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0" d="100"/>
          <a:sy n="60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id  Mehmood" userId="81925f02-6c57-415d-acff-cce7bb65b9aa" providerId="ADAL" clId="{A19230FE-31F7-41A4-ABC9-711F32C203A9}"/>
    <pc:docChg chg="custSel modSld">
      <pc:chgData name="Zahid  Mehmood" userId="81925f02-6c57-415d-acff-cce7bb65b9aa" providerId="ADAL" clId="{A19230FE-31F7-41A4-ABC9-711F32C203A9}" dt="2026-03-24T08:44:09.068" v="34" actId="255"/>
      <pc:docMkLst>
        <pc:docMk/>
      </pc:docMkLst>
      <pc:sldChg chg="modSp mod">
        <pc:chgData name="Zahid  Mehmood" userId="81925f02-6c57-415d-acff-cce7bb65b9aa" providerId="ADAL" clId="{A19230FE-31F7-41A4-ABC9-711F32C203A9}" dt="2026-03-24T08:41:57.481" v="1" actId="14100"/>
        <pc:sldMkLst>
          <pc:docMk/>
          <pc:sldMk cId="3729277510" sldId="256"/>
        </pc:sldMkLst>
        <pc:spChg chg="mod">
          <ac:chgData name="Zahid  Mehmood" userId="81925f02-6c57-415d-acff-cce7bb65b9aa" providerId="ADAL" clId="{A19230FE-31F7-41A4-ABC9-711F32C203A9}" dt="2026-03-24T08:41:57.481" v="1" actId="14100"/>
          <ac:spMkLst>
            <pc:docMk/>
            <pc:sldMk cId="3729277510" sldId="256"/>
            <ac:spMk id="5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2:10.170" v="6" actId="14100"/>
        <pc:sldMkLst>
          <pc:docMk/>
          <pc:sldMk cId="85746145" sldId="258"/>
        </pc:sldMkLst>
        <pc:spChg chg="mod">
          <ac:chgData name="Zahid  Mehmood" userId="81925f02-6c57-415d-acff-cce7bb65b9aa" providerId="ADAL" clId="{A19230FE-31F7-41A4-ABC9-711F32C203A9}" dt="2026-03-24T08:42:10.170" v="6" actId="14100"/>
          <ac:spMkLst>
            <pc:docMk/>
            <pc:sldMk cId="85746145" sldId="258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2:23.091" v="12" actId="27636"/>
        <pc:sldMkLst>
          <pc:docMk/>
          <pc:sldMk cId="1100014501" sldId="259"/>
        </pc:sldMkLst>
        <pc:spChg chg="mod">
          <ac:chgData name="Zahid  Mehmood" userId="81925f02-6c57-415d-acff-cce7bb65b9aa" providerId="ADAL" clId="{A19230FE-31F7-41A4-ABC9-711F32C203A9}" dt="2026-03-24T08:42:23.091" v="12" actId="27636"/>
          <ac:spMkLst>
            <pc:docMk/>
            <pc:sldMk cId="1100014501" sldId="259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2:37.666" v="17" actId="27636"/>
        <pc:sldMkLst>
          <pc:docMk/>
          <pc:sldMk cId="4260192349" sldId="260"/>
        </pc:sldMkLst>
        <pc:spChg chg="mod">
          <ac:chgData name="Zahid  Mehmood" userId="81925f02-6c57-415d-acff-cce7bb65b9aa" providerId="ADAL" clId="{A19230FE-31F7-41A4-ABC9-711F32C203A9}" dt="2026-03-24T08:42:37.666" v="17" actId="27636"/>
          <ac:spMkLst>
            <pc:docMk/>
            <pc:sldMk cId="4260192349" sldId="260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3:05.837" v="27" actId="27636"/>
        <pc:sldMkLst>
          <pc:docMk/>
          <pc:sldMk cId="3641149315" sldId="261"/>
        </pc:sldMkLst>
        <pc:spChg chg="mod">
          <ac:chgData name="Zahid  Mehmood" userId="81925f02-6c57-415d-acff-cce7bb65b9aa" providerId="ADAL" clId="{A19230FE-31F7-41A4-ABC9-711F32C203A9}" dt="2026-03-24T08:43:05.837" v="27" actId="27636"/>
          <ac:spMkLst>
            <pc:docMk/>
            <pc:sldMk cId="3641149315" sldId="261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2:51.845" v="22" actId="27636"/>
        <pc:sldMkLst>
          <pc:docMk/>
          <pc:sldMk cId="403489833" sldId="262"/>
        </pc:sldMkLst>
        <pc:spChg chg="mod">
          <ac:chgData name="Zahid  Mehmood" userId="81925f02-6c57-415d-acff-cce7bb65b9aa" providerId="ADAL" clId="{A19230FE-31F7-41A4-ABC9-711F32C203A9}" dt="2026-03-24T08:42:51.845" v="22" actId="27636"/>
          <ac:spMkLst>
            <pc:docMk/>
            <pc:sldMk cId="403489833" sldId="262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3:20.943" v="28" actId="12"/>
        <pc:sldMkLst>
          <pc:docMk/>
          <pc:sldMk cId="772986824" sldId="263"/>
        </pc:sldMkLst>
        <pc:spChg chg="mod">
          <ac:chgData name="Zahid  Mehmood" userId="81925f02-6c57-415d-acff-cce7bb65b9aa" providerId="ADAL" clId="{A19230FE-31F7-41A4-ABC9-711F32C203A9}" dt="2026-03-24T08:43:20.943" v="28" actId="12"/>
          <ac:spMkLst>
            <pc:docMk/>
            <pc:sldMk cId="772986824" sldId="263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3:46.621" v="32" actId="255"/>
        <pc:sldMkLst>
          <pc:docMk/>
          <pc:sldMk cId="419127308" sldId="264"/>
        </pc:sldMkLst>
        <pc:spChg chg="mod">
          <ac:chgData name="Zahid  Mehmood" userId="81925f02-6c57-415d-acff-cce7bb65b9aa" providerId="ADAL" clId="{A19230FE-31F7-41A4-ABC9-711F32C203A9}" dt="2026-03-24T08:43:46.621" v="32" actId="255"/>
          <ac:spMkLst>
            <pc:docMk/>
            <pc:sldMk cId="419127308" sldId="264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3:56.870" v="33" actId="255"/>
        <pc:sldMkLst>
          <pc:docMk/>
          <pc:sldMk cId="2939915659" sldId="265"/>
        </pc:sldMkLst>
        <pc:spChg chg="mod">
          <ac:chgData name="Zahid  Mehmood" userId="81925f02-6c57-415d-acff-cce7bb65b9aa" providerId="ADAL" clId="{A19230FE-31F7-41A4-ABC9-711F32C203A9}" dt="2026-03-24T08:43:56.870" v="33" actId="255"/>
          <ac:spMkLst>
            <pc:docMk/>
            <pc:sldMk cId="2939915659" sldId="265"/>
            <ac:spMk id="3" creationId="{00000000-0000-0000-0000-000000000000}"/>
          </ac:spMkLst>
        </pc:spChg>
      </pc:sldChg>
      <pc:sldChg chg="modSp mod">
        <pc:chgData name="Zahid  Mehmood" userId="81925f02-6c57-415d-acff-cce7bb65b9aa" providerId="ADAL" clId="{A19230FE-31F7-41A4-ABC9-711F32C203A9}" dt="2026-03-24T08:44:09.068" v="34" actId="255"/>
        <pc:sldMkLst>
          <pc:docMk/>
          <pc:sldMk cId="2898787301" sldId="266"/>
        </pc:sldMkLst>
        <pc:spChg chg="mod">
          <ac:chgData name="Zahid  Mehmood" userId="81925f02-6c57-415d-acff-cce7bb65b9aa" providerId="ADAL" clId="{A19230FE-31F7-41A4-ABC9-711F32C203A9}" dt="2026-03-24T08:44:09.068" v="34" actId="255"/>
          <ac:spMkLst>
            <pc:docMk/>
            <pc:sldMk cId="2898787301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ist.gov/cyberframewor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Lecture13: Introduction to the Basic Concepts of Cybersecurity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Zahid Mehmood</a:t>
            </a:r>
          </a:p>
        </p:txBody>
      </p:sp>
    </p:spTree>
    <p:extLst>
      <p:ext uri="{BB962C8B-B14F-4D97-AF65-F5344CB8AC3E}">
        <p14:creationId xmlns:p14="http://schemas.microsoft.com/office/powerpoint/2010/main" val="236790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Objectives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91178"/>
          </a:xfrm>
        </p:spPr>
        <p:txBody>
          <a:bodyPr>
            <a:noAutofit/>
          </a:bodyPr>
          <a:lstStyle/>
          <a:p>
            <a:r>
              <a:rPr lang="en-US" sz="2800" dirty="0"/>
              <a:t>By the end of this lecture, students will:</a:t>
            </a:r>
          </a:p>
          <a:p>
            <a:pPr lvl="0"/>
            <a:r>
              <a:rPr lang="en-US" sz="2800" dirty="0"/>
              <a:t>Understand the fundamental concepts of cybersecurity.</a:t>
            </a:r>
          </a:p>
          <a:p>
            <a:pPr lvl="0"/>
            <a:r>
              <a:rPr lang="en-US" sz="2800" dirty="0"/>
              <a:t>Learn about common threats and vulnerabilities.</a:t>
            </a:r>
          </a:p>
          <a:p>
            <a:pPr lvl="0"/>
            <a:r>
              <a:rPr lang="en-US" sz="2800" dirty="0"/>
              <a:t>Explore the importance of cybersecurity in today’s digital landscape.</a:t>
            </a:r>
          </a:p>
          <a:p>
            <a:r>
              <a:rPr lang="en-US" sz="2800" dirty="0"/>
              <a:t>Discuss key principles for ensuring cybersecurity.</a:t>
            </a:r>
          </a:p>
        </p:txBody>
      </p:sp>
    </p:spTree>
    <p:extLst>
      <p:ext uri="{BB962C8B-B14F-4D97-AF65-F5344CB8AC3E}">
        <p14:creationId xmlns:p14="http://schemas.microsoft.com/office/powerpoint/2010/main" val="372927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1.What is Cybersecurity?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339702"/>
            <a:ext cx="10363826" cy="4899781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Definition</a:t>
            </a:r>
            <a:r>
              <a:rPr lang="en-US" sz="2800" dirty="0"/>
              <a:t>: Cybersecurity refers to the practice of protecting systems, networks, and data from cyber threats and unauthorized access.</a:t>
            </a:r>
          </a:p>
          <a:p>
            <a:pPr lvl="0"/>
            <a:r>
              <a:rPr lang="en-US" sz="2800" b="1" dirty="0"/>
              <a:t>Scope</a:t>
            </a:r>
            <a:r>
              <a:rPr lang="en-US" sz="2800" dirty="0"/>
              <a:t>: Covers a wide range of areas including information security, network security, application security, and operational security.</a:t>
            </a:r>
          </a:p>
          <a:p>
            <a:pPr lvl="0"/>
            <a:r>
              <a:rPr lang="en-US" sz="2800" b="1" dirty="0"/>
              <a:t>Goal</a:t>
            </a:r>
            <a:r>
              <a:rPr lang="en-US" sz="2800" dirty="0"/>
              <a:t>: To ensure the confidentiality, integrity, and availability (CIA triad)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Importance of Cybersecurity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67294"/>
            <a:ext cx="10363826" cy="5018566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Increased Reliance on Technology</a:t>
            </a:r>
            <a:r>
              <a:rPr lang="en-US" sz="2800" dirty="0"/>
              <a:t>: We live in a digital age where everything is interconnected.</a:t>
            </a:r>
          </a:p>
          <a:p>
            <a:pPr lvl="0"/>
            <a:r>
              <a:rPr lang="en-US" sz="2800" b="1" dirty="0"/>
              <a:t>Data Protection</a:t>
            </a:r>
            <a:r>
              <a:rPr lang="en-US" sz="2800" dirty="0"/>
              <a:t>: Prevents sensitive information from being stolen or leaked.</a:t>
            </a:r>
          </a:p>
          <a:p>
            <a:pPr lvl="0"/>
            <a:r>
              <a:rPr lang="en-US" sz="2800" b="1" dirty="0"/>
              <a:t>Economic Impact</a:t>
            </a:r>
            <a:r>
              <a:rPr lang="en-US" sz="2800" dirty="0"/>
              <a:t>: Cyberattacks can lead to financial losses for individuals and organizations.</a:t>
            </a:r>
          </a:p>
          <a:p>
            <a:pPr lvl="0"/>
            <a:r>
              <a:rPr lang="en-US" sz="2800" b="1" dirty="0"/>
              <a:t>National Security</a:t>
            </a:r>
            <a:r>
              <a:rPr lang="en-US" sz="2800" dirty="0"/>
              <a:t>: Protects critical infrastructure and governmental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01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Key Cybersecurity Concepts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711842"/>
            <a:ext cx="10363826" cy="4688958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a. The CIA Triad</a:t>
            </a:r>
            <a:endParaRPr lang="en-US" sz="2800" dirty="0"/>
          </a:p>
          <a:p>
            <a:pPr lvl="0"/>
            <a:r>
              <a:rPr lang="en-US" sz="2800" b="1" dirty="0"/>
              <a:t>Confidentiality</a:t>
            </a:r>
            <a:r>
              <a:rPr lang="en-US" sz="2800" dirty="0"/>
              <a:t>: Ensuring that information is accessible only to those authorized to view it.</a:t>
            </a:r>
          </a:p>
          <a:p>
            <a:pPr lvl="1"/>
            <a:r>
              <a:rPr lang="en-US" sz="2800" dirty="0"/>
              <a:t>Example: Encrypting sensitive files.</a:t>
            </a:r>
          </a:p>
          <a:p>
            <a:pPr lvl="0"/>
            <a:r>
              <a:rPr lang="en-US" sz="2800" b="1" dirty="0"/>
              <a:t>Integrity</a:t>
            </a:r>
            <a:r>
              <a:rPr lang="en-US" sz="2800" dirty="0"/>
              <a:t>: Ensuring that data is accurate and unaltered.</a:t>
            </a:r>
          </a:p>
          <a:p>
            <a:pPr lvl="1"/>
            <a:r>
              <a:rPr lang="en-US" sz="2800" dirty="0"/>
              <a:t>Example: Using checksums to verify file integrity.</a:t>
            </a:r>
          </a:p>
          <a:p>
            <a:pPr lvl="0"/>
            <a:r>
              <a:rPr lang="en-US" sz="2800" b="1" dirty="0"/>
              <a:t>Availability</a:t>
            </a:r>
            <a:r>
              <a:rPr lang="en-US" sz="2800" dirty="0"/>
              <a:t>: Ensuring that systems and data are available when needed.</a:t>
            </a:r>
          </a:p>
          <a:p>
            <a:pPr lvl="1"/>
            <a:r>
              <a:rPr lang="en-US" sz="2800" dirty="0"/>
              <a:t>Example: Using backup systems and disaster recovery plans.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9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Key Cybersecurity Concepts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531088"/>
            <a:ext cx="10363826" cy="42601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b. Authentication and Authorization</a:t>
            </a:r>
            <a:endParaRPr lang="en-US" sz="2800" dirty="0"/>
          </a:p>
          <a:p>
            <a:pPr marL="0" lvl="0" indent="0">
              <a:buNone/>
            </a:pPr>
            <a:r>
              <a:rPr lang="en-US" sz="2800" b="1" dirty="0"/>
              <a:t>Authentication</a:t>
            </a:r>
            <a:r>
              <a:rPr lang="en-US" sz="2800" dirty="0"/>
              <a:t>: Verifying the identity of a user or system.</a:t>
            </a:r>
          </a:p>
          <a:p>
            <a:pPr marL="0" lvl="0" indent="0">
              <a:buNone/>
            </a:pPr>
            <a:r>
              <a:rPr lang="en-US" sz="2800" b="1" dirty="0"/>
              <a:t>Authorization</a:t>
            </a:r>
            <a:r>
              <a:rPr lang="en-US" sz="2800" dirty="0"/>
              <a:t>: Granting permissions based on the authenticated identity.</a:t>
            </a:r>
          </a:p>
          <a:p>
            <a:pPr marL="0" indent="0">
              <a:buNone/>
            </a:pPr>
            <a:r>
              <a:rPr lang="en-US" sz="2800" b="1" dirty="0"/>
              <a:t>c. Threats and Vulnerabilities</a:t>
            </a:r>
            <a:endParaRPr lang="en-US" sz="2800" dirty="0"/>
          </a:p>
          <a:p>
            <a:pPr marL="0" lvl="0" indent="0">
              <a:buNone/>
            </a:pPr>
            <a:r>
              <a:rPr lang="en-US" sz="2800" b="1" dirty="0"/>
              <a:t>Threats</a:t>
            </a:r>
            <a:r>
              <a:rPr lang="en-US" sz="2800" dirty="0"/>
              <a:t>: Potential dangers (e.g., malware, phishing).</a:t>
            </a:r>
          </a:p>
          <a:p>
            <a:pPr marL="0" lvl="0" indent="0">
              <a:buNone/>
            </a:pPr>
            <a:r>
              <a:rPr lang="en-US" sz="2800" b="1" dirty="0"/>
              <a:t>Vulnerabilities</a:t>
            </a:r>
            <a:r>
              <a:rPr lang="en-US" sz="2800" dirty="0"/>
              <a:t>: Weaknesses in a system that can be exploited by threats (e.g., outdated software).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4.Common Cyber Threats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37414"/>
            <a:ext cx="10363826" cy="49335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a. Malware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Malicious software designed to harm systems (e.g., viruses, worms, ransomware).</a:t>
            </a:r>
          </a:p>
          <a:p>
            <a:pPr marL="0" indent="0">
              <a:buNone/>
            </a:pPr>
            <a:r>
              <a:rPr lang="en-US" b="1" dirty="0"/>
              <a:t>b. Phishing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Fraudulent attempts to steal sensitive information by pretending to be a trustworthy entity.</a:t>
            </a:r>
          </a:p>
          <a:p>
            <a:pPr marL="0" indent="0">
              <a:buNone/>
            </a:pPr>
            <a:r>
              <a:rPr lang="en-US" b="1" dirty="0"/>
              <a:t>c. Denial of Service (</a:t>
            </a:r>
            <a:r>
              <a:rPr lang="en-US" b="1" dirty="0" err="1"/>
              <a:t>DoS</a:t>
            </a:r>
            <a:r>
              <a:rPr lang="en-US" b="1" dirty="0"/>
              <a:t>) Attacks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Overloading a system to make it unavailable to users.</a:t>
            </a:r>
          </a:p>
          <a:p>
            <a:pPr marL="0" indent="0">
              <a:buNone/>
            </a:pPr>
            <a:r>
              <a:rPr lang="en-US" b="1" dirty="0"/>
              <a:t>d. Insider Threats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Employees or trusted individuals misusing their access to harm the organization.</a:t>
            </a:r>
          </a:p>
          <a:p>
            <a:pPr marL="0" indent="0">
              <a:buNone/>
            </a:pPr>
            <a:r>
              <a:rPr lang="en-US" b="1" dirty="0"/>
              <a:t>e. Social Engineering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Manipulating individuals to divulge confidential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64114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Basic Cybersecurity Measures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76400"/>
            <a:ext cx="10363826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a. Strong Passwords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Use complex passwords and update them regularly.</a:t>
            </a:r>
          </a:p>
          <a:p>
            <a:pPr marL="0" indent="0">
              <a:buNone/>
            </a:pPr>
            <a:r>
              <a:rPr lang="en-US" b="1" dirty="0"/>
              <a:t>b. Firewalls and Antivirus Software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Protect systems from unauthorized access and malicious software.</a:t>
            </a:r>
          </a:p>
          <a:p>
            <a:pPr marL="0" indent="0">
              <a:buNone/>
            </a:pPr>
            <a:r>
              <a:rPr lang="en-US" b="1" dirty="0"/>
              <a:t>c. Regular Updates and Patches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Keep software and systems up to date to fix vulnerabilities.</a:t>
            </a:r>
          </a:p>
          <a:p>
            <a:pPr marL="0" indent="0">
              <a:buNone/>
            </a:pPr>
            <a:r>
              <a:rPr lang="en-US" b="1" dirty="0"/>
              <a:t>d. Data Encryption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Convert sensitive information into a secure format.</a:t>
            </a:r>
          </a:p>
          <a:p>
            <a:pPr marL="0" indent="0">
              <a:buNone/>
            </a:pPr>
            <a:r>
              <a:rPr lang="en-US" b="1" dirty="0"/>
              <a:t>e. Employee Training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Educate users on recognizing threats and practicing safe online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8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6.Cybersecurity in Everyday Life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541721"/>
            <a:ext cx="10363826" cy="49228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b="1" dirty="0"/>
              <a:t>For Individuals</a:t>
            </a:r>
            <a:r>
              <a:rPr lang="en-US" sz="2800" dirty="0"/>
              <a:t>:</a:t>
            </a:r>
          </a:p>
          <a:p>
            <a:pPr marL="457200" lvl="1" indent="0">
              <a:buNone/>
            </a:pPr>
            <a:r>
              <a:rPr lang="en-US" sz="2800" dirty="0"/>
              <a:t>Avoid clicking on unknown links.</a:t>
            </a:r>
          </a:p>
          <a:p>
            <a:pPr marL="457200" lvl="1" indent="0">
              <a:buNone/>
            </a:pPr>
            <a:r>
              <a:rPr lang="en-US" sz="2800" dirty="0"/>
              <a:t>Use secure Wi-Fi connections.</a:t>
            </a:r>
          </a:p>
          <a:p>
            <a:pPr marL="457200" lvl="1" indent="0">
              <a:buNone/>
            </a:pPr>
            <a:r>
              <a:rPr lang="en-US" sz="2800" dirty="0"/>
              <a:t>Enable two-factor authentication (2FA).</a:t>
            </a:r>
          </a:p>
          <a:p>
            <a:pPr marL="0" lvl="0" indent="0">
              <a:buNone/>
            </a:pPr>
            <a:r>
              <a:rPr lang="en-US" sz="2800" b="1" dirty="0"/>
              <a:t>For Organizations</a:t>
            </a:r>
            <a:r>
              <a:rPr lang="en-US" sz="2800" dirty="0"/>
              <a:t>:</a:t>
            </a:r>
          </a:p>
          <a:p>
            <a:pPr marL="457200" lvl="1" indent="0">
              <a:buNone/>
            </a:pPr>
            <a:r>
              <a:rPr lang="en-US" sz="2800" dirty="0"/>
              <a:t>Implement security policies.</a:t>
            </a:r>
          </a:p>
          <a:p>
            <a:pPr marL="457200" lvl="1" indent="0">
              <a:buNone/>
            </a:pPr>
            <a:r>
              <a:rPr lang="en-US" sz="2800" dirty="0"/>
              <a:t>Monitor and audit network activities.</a:t>
            </a:r>
          </a:p>
          <a:p>
            <a:pPr marL="0" indent="0">
              <a:buNone/>
            </a:pPr>
            <a:r>
              <a:rPr lang="en-US" sz="2800" dirty="0"/>
              <a:t>Conduct regular risk assessments.</a:t>
            </a:r>
          </a:p>
        </p:txBody>
      </p:sp>
    </p:spTree>
    <p:extLst>
      <p:ext uri="{BB962C8B-B14F-4D97-AF65-F5344CB8AC3E}">
        <p14:creationId xmlns:p14="http://schemas.microsoft.com/office/powerpoint/2010/main" val="41912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The Future of Cybersecurity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Emerging Trends</a:t>
            </a:r>
            <a:r>
              <a:rPr lang="en-US" sz="2800" dirty="0"/>
              <a:t>: AI in cybersecurity, zero-trust models, and </a:t>
            </a:r>
            <a:r>
              <a:rPr lang="en-US" sz="2800" dirty="0" err="1"/>
              <a:t>blockchain</a:t>
            </a:r>
            <a:r>
              <a:rPr lang="en-US" sz="2800" dirty="0"/>
              <a:t> technology.</a:t>
            </a:r>
          </a:p>
          <a:p>
            <a:pPr lvl="0"/>
            <a:r>
              <a:rPr lang="en-US" sz="2800" b="1" dirty="0"/>
              <a:t>Challenges</a:t>
            </a:r>
            <a:r>
              <a:rPr lang="en-US" sz="2800" dirty="0"/>
              <a:t>: Increasing sophistication of cyberattacks, shortage of skilled professionals.</a:t>
            </a:r>
          </a:p>
          <a:p>
            <a:r>
              <a:rPr lang="en-US" sz="2800" b="1" dirty="0"/>
              <a:t>Opportunities</a:t>
            </a:r>
            <a:r>
              <a:rPr lang="en-US" sz="2800" dirty="0"/>
              <a:t>: Growth in cybersecurity jobs, advancements in security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93991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Activities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sz="2800" b="1" dirty="0"/>
              <a:t>Discussion</a:t>
            </a:r>
            <a:r>
              <a:rPr lang="en-US" sz="2800" dirty="0"/>
              <a:t>: What are some common cybersecurity issues you have encountered?</a:t>
            </a:r>
          </a:p>
          <a:p>
            <a:pPr lvl="0"/>
            <a:r>
              <a:rPr lang="en-US" sz="2800" b="1" dirty="0"/>
              <a:t>Case Study</a:t>
            </a:r>
            <a:r>
              <a:rPr lang="en-US" sz="2800" dirty="0"/>
              <a:t>: Analyze a recent cyberattack and discuss preventive measures.</a:t>
            </a:r>
          </a:p>
          <a:p>
            <a:pPr lvl="0"/>
            <a:r>
              <a:rPr lang="en-US" sz="2800" b="1" dirty="0"/>
              <a:t>Quiz</a:t>
            </a:r>
            <a:r>
              <a:rPr lang="en-US" sz="2800" dirty="0"/>
              <a:t>: Quick questions on key concepts covered in the lecture.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8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dirty="0"/>
              <a:t>Cybersecurity is essential for protecting our digital assets and infrastructure.</a:t>
            </a:r>
          </a:p>
          <a:p>
            <a:pPr lvl="0"/>
            <a:r>
              <a:rPr lang="en-US" dirty="0"/>
              <a:t>The CIA triad forms the foundation of cybersecurity principles.</a:t>
            </a:r>
          </a:p>
          <a:p>
            <a:pPr lvl="0"/>
            <a:r>
              <a:rPr lang="en-US" dirty="0"/>
              <a:t>Awareness and proactive measures can significantly reduce cyber risks.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57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Further Reading and Resources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dirty="0"/>
              <a:t>"Cybersecurity for Beginners" by </a:t>
            </a:r>
            <a:r>
              <a:rPr lang="en-US" dirty="0" err="1"/>
              <a:t>Raef</a:t>
            </a:r>
            <a:r>
              <a:rPr lang="en-US" dirty="0"/>
              <a:t> </a:t>
            </a:r>
            <a:r>
              <a:rPr lang="en-US" dirty="0" err="1"/>
              <a:t>Meeuwisse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Online Course: </a:t>
            </a:r>
            <a:r>
              <a:rPr lang="en-US" i="1" dirty="0"/>
              <a:t>Introduction to Cybersecurity</a:t>
            </a:r>
            <a:r>
              <a:rPr lang="en-US" dirty="0"/>
              <a:t> (Offered by Coursera/</a:t>
            </a:r>
            <a:r>
              <a:rPr lang="en-US" dirty="0" err="1"/>
              <a:t>edX</a:t>
            </a:r>
            <a:r>
              <a:rPr lang="en-US" dirty="0"/>
              <a:t>).</a:t>
            </a:r>
          </a:p>
          <a:p>
            <a:pPr lvl="0"/>
            <a:r>
              <a:rPr lang="en-US" dirty="0"/>
              <a:t>NIST Cybersecurity Framework: </a:t>
            </a:r>
            <a:r>
              <a:rPr lang="en-US" u="sng" dirty="0">
                <a:hlinkClick r:id="rId2"/>
              </a:rPr>
              <a:t>https://www.nist.gov/cyberframework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37182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128</TotalTime>
  <Words>697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Droplet</vt:lpstr>
      <vt:lpstr>Lecture13: Introduction to the Basic Concepts of Cybersecurity </vt:lpstr>
      <vt:lpstr>Learning Objectives </vt:lpstr>
      <vt:lpstr>1.What is Cybersecurity? </vt:lpstr>
      <vt:lpstr>2. Importance of Cybersecurity </vt:lpstr>
      <vt:lpstr>3. Key Cybersecurity Concepts </vt:lpstr>
      <vt:lpstr>3. Key Cybersecurity Concepts </vt:lpstr>
      <vt:lpstr>4.Common Cyber Threats </vt:lpstr>
      <vt:lpstr>5. Basic Cybersecurity Measures </vt:lpstr>
      <vt:lpstr>6.Cybersecurity in Everyday Life </vt:lpstr>
      <vt:lpstr>7. The Future of Cybersecurity </vt:lpstr>
      <vt:lpstr>Interactive Activities </vt:lpstr>
      <vt:lpstr>Summary </vt:lpstr>
      <vt:lpstr>Further Reading and Resources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Lecture13: Introduction to the Basic Concepts of Cybersecurity</dc:title>
  <dc:creator>Dr.Zahid</dc:creator>
  <cp:lastModifiedBy>Zahid  Mehmood</cp:lastModifiedBy>
  <cp:revision>3</cp:revision>
  <dcterms:created xsi:type="dcterms:W3CDTF">2024-12-02T18:27:51Z</dcterms:created>
  <dcterms:modified xsi:type="dcterms:W3CDTF">2026-03-24T08:44:17Z</dcterms:modified>
</cp:coreProperties>
</file>