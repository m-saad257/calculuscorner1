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notesMasterIdLst>
    <p:notesMasterId r:id="rId47"/>
  </p:notesMasterIdLst>
  <p:sldIdLst>
    <p:sldId id="256" r:id="rId2"/>
    <p:sldId id="257" r:id="rId3"/>
    <p:sldId id="275" r:id="rId4"/>
    <p:sldId id="276" r:id="rId5"/>
    <p:sldId id="277" r:id="rId6"/>
    <p:sldId id="259" r:id="rId7"/>
    <p:sldId id="260" r:id="rId8"/>
    <p:sldId id="261" r:id="rId9"/>
    <p:sldId id="262" r:id="rId10"/>
    <p:sldId id="278" r:id="rId11"/>
    <p:sldId id="279" r:id="rId12"/>
    <p:sldId id="263" r:id="rId13"/>
    <p:sldId id="280" r:id="rId14"/>
    <p:sldId id="281" r:id="rId15"/>
    <p:sldId id="282" r:id="rId16"/>
    <p:sldId id="265" r:id="rId17"/>
    <p:sldId id="302" r:id="rId18"/>
    <p:sldId id="303" r:id="rId19"/>
    <p:sldId id="304" r:id="rId20"/>
    <p:sldId id="266" r:id="rId21"/>
    <p:sldId id="283" r:id="rId22"/>
    <p:sldId id="284" r:id="rId23"/>
    <p:sldId id="285" r:id="rId24"/>
    <p:sldId id="287" r:id="rId25"/>
    <p:sldId id="288" r:id="rId26"/>
    <p:sldId id="289" r:id="rId27"/>
    <p:sldId id="290" r:id="rId28"/>
    <p:sldId id="291" r:id="rId29"/>
    <p:sldId id="292" r:id="rId30"/>
    <p:sldId id="267" r:id="rId31"/>
    <p:sldId id="268" r:id="rId32"/>
    <p:sldId id="295" r:id="rId33"/>
    <p:sldId id="296" r:id="rId34"/>
    <p:sldId id="294" r:id="rId35"/>
    <p:sldId id="269" r:id="rId36"/>
    <p:sldId id="297" r:id="rId37"/>
    <p:sldId id="298" r:id="rId38"/>
    <p:sldId id="270" r:id="rId39"/>
    <p:sldId id="299" r:id="rId40"/>
    <p:sldId id="271" r:id="rId41"/>
    <p:sldId id="272" r:id="rId42"/>
    <p:sldId id="273" r:id="rId43"/>
    <p:sldId id="300" r:id="rId44"/>
    <p:sldId id="274" r:id="rId45"/>
    <p:sldId id="301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369CCF-2E08-41BB-8A65-659BEE0020BF}" v="7" dt="2026-03-27T04:15:46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hid  Mehmood" userId="81925f02-6c57-415d-acff-cce7bb65b9aa" providerId="ADAL" clId="{A19230FE-31F7-41A4-ABC9-711F32C203A9}"/>
    <pc:docChg chg="custSel addSld modSld">
      <pc:chgData name="Zahid  Mehmood" userId="81925f02-6c57-415d-acff-cce7bb65b9aa" providerId="ADAL" clId="{A19230FE-31F7-41A4-ABC9-711F32C203A9}" dt="2026-03-27T06:15:49.524" v="142" actId="27636"/>
      <pc:docMkLst>
        <pc:docMk/>
      </pc:docMkLst>
      <pc:sldChg chg="modSp mod">
        <pc:chgData name="Zahid  Mehmood" userId="81925f02-6c57-415d-acff-cce7bb65b9aa" providerId="ADAL" clId="{A19230FE-31F7-41A4-ABC9-711F32C203A9}" dt="2026-03-26T20:08:28.851" v="43" actId="113"/>
        <pc:sldMkLst>
          <pc:docMk/>
          <pc:sldMk cId="565272952" sldId="260"/>
        </pc:sldMkLst>
        <pc:spChg chg="mod">
          <ac:chgData name="Zahid  Mehmood" userId="81925f02-6c57-415d-acff-cce7bb65b9aa" providerId="ADAL" clId="{A19230FE-31F7-41A4-ABC9-711F32C203A9}" dt="2026-03-26T20:08:28.851" v="43" actId="113"/>
          <ac:spMkLst>
            <pc:docMk/>
            <pc:sldMk cId="565272952" sldId="260"/>
            <ac:spMk id="3" creationId="{525DDECC-FFEA-90B0-CAED-4ADA81BFAAA8}"/>
          </ac:spMkLst>
        </pc:spChg>
      </pc:sldChg>
      <pc:sldChg chg="modSp mod">
        <pc:chgData name="Zahid  Mehmood" userId="81925f02-6c57-415d-acff-cce7bb65b9aa" providerId="ADAL" clId="{A19230FE-31F7-41A4-ABC9-711F32C203A9}" dt="2026-03-26T20:08:43.626" v="45" actId="113"/>
        <pc:sldMkLst>
          <pc:docMk/>
          <pc:sldMk cId="683931326" sldId="261"/>
        </pc:sldMkLst>
        <pc:spChg chg="mod">
          <ac:chgData name="Zahid  Mehmood" userId="81925f02-6c57-415d-acff-cce7bb65b9aa" providerId="ADAL" clId="{A19230FE-31F7-41A4-ABC9-711F32C203A9}" dt="2026-03-26T20:08:43.626" v="45" actId="113"/>
          <ac:spMkLst>
            <pc:docMk/>
            <pc:sldMk cId="683931326" sldId="261"/>
            <ac:spMk id="3" creationId="{A10D6404-D735-B676-11A2-4535121C890E}"/>
          </ac:spMkLst>
        </pc:spChg>
      </pc:sldChg>
      <pc:sldChg chg="modSp mod">
        <pc:chgData name="Zahid  Mehmood" userId="81925f02-6c57-415d-acff-cce7bb65b9aa" providerId="ADAL" clId="{A19230FE-31F7-41A4-ABC9-711F32C203A9}" dt="2026-03-26T20:09:01.459" v="48" actId="113"/>
        <pc:sldMkLst>
          <pc:docMk/>
          <pc:sldMk cId="1250312190" sldId="262"/>
        </pc:sldMkLst>
        <pc:spChg chg="mod">
          <ac:chgData name="Zahid  Mehmood" userId="81925f02-6c57-415d-acff-cce7bb65b9aa" providerId="ADAL" clId="{A19230FE-31F7-41A4-ABC9-711F32C203A9}" dt="2026-03-26T20:09:01.459" v="48" actId="113"/>
          <ac:spMkLst>
            <pc:docMk/>
            <pc:sldMk cId="1250312190" sldId="262"/>
            <ac:spMk id="3" creationId="{104C4E4E-F251-6711-C684-F181F3C6E36E}"/>
          </ac:spMkLst>
        </pc:spChg>
      </pc:sldChg>
      <pc:sldChg chg="modSp mod">
        <pc:chgData name="Zahid  Mehmood" userId="81925f02-6c57-415d-acff-cce7bb65b9aa" providerId="ADAL" clId="{A19230FE-31F7-41A4-ABC9-711F32C203A9}" dt="2026-03-26T20:09:57.665" v="56" actId="113"/>
        <pc:sldMkLst>
          <pc:docMk/>
          <pc:sldMk cId="936372164" sldId="263"/>
        </pc:sldMkLst>
        <pc:spChg chg="mod">
          <ac:chgData name="Zahid  Mehmood" userId="81925f02-6c57-415d-acff-cce7bb65b9aa" providerId="ADAL" clId="{A19230FE-31F7-41A4-ABC9-711F32C203A9}" dt="2026-03-26T20:09:57.665" v="56" actId="113"/>
          <ac:spMkLst>
            <pc:docMk/>
            <pc:sldMk cId="936372164" sldId="263"/>
            <ac:spMk id="8" creationId="{61D358F5-C962-C614-C950-993F0B553D23}"/>
          </ac:spMkLst>
        </pc:spChg>
      </pc:sldChg>
      <pc:sldChg chg="modSp mod">
        <pc:chgData name="Zahid  Mehmood" userId="81925f02-6c57-415d-acff-cce7bb65b9aa" providerId="ADAL" clId="{A19230FE-31F7-41A4-ABC9-711F32C203A9}" dt="2026-03-27T04:15:53.650" v="140" actId="108"/>
        <pc:sldMkLst>
          <pc:docMk/>
          <pc:sldMk cId="1885048675" sldId="265"/>
        </pc:sldMkLst>
        <pc:spChg chg="mod">
          <ac:chgData name="Zahid  Mehmood" userId="81925f02-6c57-415d-acff-cce7bb65b9aa" providerId="ADAL" clId="{A19230FE-31F7-41A4-ABC9-711F32C203A9}" dt="2026-03-27T04:15:53.650" v="140" actId="108"/>
          <ac:spMkLst>
            <pc:docMk/>
            <pc:sldMk cId="1885048675" sldId="265"/>
            <ac:spMk id="3" creationId="{94C1D5D2-EAB2-8BD5-C898-8BC04CCC2888}"/>
          </ac:spMkLst>
        </pc:spChg>
      </pc:sldChg>
      <pc:sldChg chg="modSp mod">
        <pc:chgData name="Zahid  Mehmood" userId="81925f02-6c57-415d-acff-cce7bb65b9aa" providerId="ADAL" clId="{A19230FE-31F7-41A4-ABC9-711F32C203A9}" dt="2026-03-26T20:11:39.795" v="70" actId="113"/>
        <pc:sldMkLst>
          <pc:docMk/>
          <pc:sldMk cId="655119421" sldId="266"/>
        </pc:sldMkLst>
        <pc:spChg chg="mod">
          <ac:chgData name="Zahid  Mehmood" userId="81925f02-6c57-415d-acff-cce7bb65b9aa" providerId="ADAL" clId="{A19230FE-31F7-41A4-ABC9-711F32C203A9}" dt="2026-03-26T20:11:39.795" v="70" actId="113"/>
          <ac:spMkLst>
            <pc:docMk/>
            <pc:sldMk cId="655119421" sldId="266"/>
            <ac:spMk id="3" creationId="{A8600FFD-8D78-08E6-319D-D5216DFB92E7}"/>
          </ac:spMkLst>
        </pc:spChg>
      </pc:sldChg>
      <pc:sldChg chg="modSp mod">
        <pc:chgData name="Zahid  Mehmood" userId="81925f02-6c57-415d-acff-cce7bb65b9aa" providerId="ADAL" clId="{A19230FE-31F7-41A4-ABC9-711F32C203A9}" dt="2026-03-26T20:07:09.394" v="34" actId="20577"/>
        <pc:sldMkLst>
          <pc:docMk/>
          <pc:sldMk cId="1435624280" sldId="275"/>
        </pc:sldMkLst>
        <pc:spChg chg="mod">
          <ac:chgData name="Zahid  Mehmood" userId="81925f02-6c57-415d-acff-cce7bb65b9aa" providerId="ADAL" clId="{A19230FE-31F7-41A4-ABC9-711F32C203A9}" dt="2026-03-26T20:07:09.394" v="34" actId="20577"/>
          <ac:spMkLst>
            <pc:docMk/>
            <pc:sldMk cId="1435624280" sldId="275"/>
            <ac:spMk id="3" creationId="{BF65BF27-CC31-CD4E-74DE-2634A82E93F7}"/>
          </ac:spMkLst>
        </pc:spChg>
      </pc:sldChg>
      <pc:sldChg chg="modSp mod">
        <pc:chgData name="Zahid  Mehmood" userId="81925f02-6c57-415d-acff-cce7bb65b9aa" providerId="ADAL" clId="{A19230FE-31F7-41A4-ABC9-711F32C203A9}" dt="2026-03-26T20:07:40.048" v="37" actId="113"/>
        <pc:sldMkLst>
          <pc:docMk/>
          <pc:sldMk cId="717376862" sldId="276"/>
        </pc:sldMkLst>
        <pc:spChg chg="mod">
          <ac:chgData name="Zahid  Mehmood" userId="81925f02-6c57-415d-acff-cce7bb65b9aa" providerId="ADAL" clId="{A19230FE-31F7-41A4-ABC9-711F32C203A9}" dt="2026-03-26T20:07:40.048" v="37" actId="113"/>
          <ac:spMkLst>
            <pc:docMk/>
            <pc:sldMk cId="717376862" sldId="276"/>
            <ac:spMk id="3" creationId="{7C1C758F-99E9-32E0-F94D-153358DCFA22}"/>
          </ac:spMkLst>
        </pc:spChg>
      </pc:sldChg>
      <pc:sldChg chg="modSp mod">
        <pc:chgData name="Zahid  Mehmood" userId="81925f02-6c57-415d-acff-cce7bb65b9aa" providerId="ADAL" clId="{A19230FE-31F7-41A4-ABC9-711F32C203A9}" dt="2026-03-26T20:08:14.435" v="41" actId="113"/>
        <pc:sldMkLst>
          <pc:docMk/>
          <pc:sldMk cId="1872208001" sldId="277"/>
        </pc:sldMkLst>
        <pc:spChg chg="mod">
          <ac:chgData name="Zahid  Mehmood" userId="81925f02-6c57-415d-acff-cce7bb65b9aa" providerId="ADAL" clId="{A19230FE-31F7-41A4-ABC9-711F32C203A9}" dt="2026-03-26T20:08:14.435" v="41" actId="113"/>
          <ac:spMkLst>
            <pc:docMk/>
            <pc:sldMk cId="1872208001" sldId="277"/>
            <ac:spMk id="3" creationId="{3AFB2E30-DB2B-31DE-908B-35671B58B289}"/>
          </ac:spMkLst>
        </pc:spChg>
      </pc:sldChg>
      <pc:sldChg chg="modSp mod">
        <pc:chgData name="Zahid  Mehmood" userId="81925f02-6c57-415d-acff-cce7bb65b9aa" providerId="ADAL" clId="{A19230FE-31F7-41A4-ABC9-711F32C203A9}" dt="2026-03-26T20:09:12.168" v="50" actId="113"/>
        <pc:sldMkLst>
          <pc:docMk/>
          <pc:sldMk cId="951108661" sldId="278"/>
        </pc:sldMkLst>
        <pc:spChg chg="mod">
          <ac:chgData name="Zahid  Mehmood" userId="81925f02-6c57-415d-acff-cce7bb65b9aa" providerId="ADAL" clId="{A19230FE-31F7-41A4-ABC9-711F32C203A9}" dt="2026-03-26T20:09:12.168" v="50" actId="113"/>
          <ac:spMkLst>
            <pc:docMk/>
            <pc:sldMk cId="951108661" sldId="278"/>
            <ac:spMk id="3" creationId="{7842D8CE-0366-5D03-62EC-9D1FB41CE032}"/>
          </ac:spMkLst>
        </pc:spChg>
      </pc:sldChg>
      <pc:sldChg chg="modSp mod">
        <pc:chgData name="Zahid  Mehmood" userId="81925f02-6c57-415d-acff-cce7bb65b9aa" providerId="ADAL" clId="{A19230FE-31F7-41A4-ABC9-711F32C203A9}" dt="2026-03-26T20:09:23.682" v="52" actId="113"/>
        <pc:sldMkLst>
          <pc:docMk/>
          <pc:sldMk cId="2761419211" sldId="279"/>
        </pc:sldMkLst>
        <pc:spChg chg="mod">
          <ac:chgData name="Zahid  Mehmood" userId="81925f02-6c57-415d-acff-cce7bb65b9aa" providerId="ADAL" clId="{A19230FE-31F7-41A4-ABC9-711F32C203A9}" dt="2026-03-26T20:09:23.682" v="52" actId="113"/>
          <ac:spMkLst>
            <pc:docMk/>
            <pc:sldMk cId="2761419211" sldId="279"/>
            <ac:spMk id="3" creationId="{41971709-4CBE-94BE-689C-F137FDAFAC7A}"/>
          </ac:spMkLst>
        </pc:spChg>
      </pc:sldChg>
      <pc:sldChg chg="modSp mod">
        <pc:chgData name="Zahid  Mehmood" userId="81925f02-6c57-415d-acff-cce7bb65b9aa" providerId="ADAL" clId="{A19230FE-31F7-41A4-ABC9-711F32C203A9}" dt="2026-03-26T20:10:20.461" v="60" actId="113"/>
        <pc:sldMkLst>
          <pc:docMk/>
          <pc:sldMk cId="805063353" sldId="280"/>
        </pc:sldMkLst>
        <pc:spChg chg="mod">
          <ac:chgData name="Zahid  Mehmood" userId="81925f02-6c57-415d-acff-cce7bb65b9aa" providerId="ADAL" clId="{A19230FE-31F7-41A4-ABC9-711F32C203A9}" dt="2026-03-26T20:10:20.461" v="60" actId="113"/>
          <ac:spMkLst>
            <pc:docMk/>
            <pc:sldMk cId="805063353" sldId="280"/>
            <ac:spMk id="3" creationId="{F73A2DD3-4BD8-2023-FA76-3C1270D35647}"/>
          </ac:spMkLst>
        </pc:spChg>
      </pc:sldChg>
      <pc:sldChg chg="modSp mod">
        <pc:chgData name="Zahid  Mehmood" userId="81925f02-6c57-415d-acff-cce7bb65b9aa" providerId="ADAL" clId="{A19230FE-31F7-41A4-ABC9-711F32C203A9}" dt="2026-03-26T20:10:42.939" v="63" actId="113"/>
        <pc:sldMkLst>
          <pc:docMk/>
          <pc:sldMk cId="3970199275" sldId="281"/>
        </pc:sldMkLst>
        <pc:spChg chg="mod">
          <ac:chgData name="Zahid  Mehmood" userId="81925f02-6c57-415d-acff-cce7bb65b9aa" providerId="ADAL" clId="{A19230FE-31F7-41A4-ABC9-711F32C203A9}" dt="2026-03-26T20:10:42.939" v="63" actId="113"/>
          <ac:spMkLst>
            <pc:docMk/>
            <pc:sldMk cId="3970199275" sldId="281"/>
            <ac:spMk id="3" creationId="{31CBD852-E12F-DD4A-8F44-2AF2D4C6A336}"/>
          </ac:spMkLst>
        </pc:spChg>
      </pc:sldChg>
      <pc:sldChg chg="modSp mod">
        <pc:chgData name="Zahid  Mehmood" userId="81925f02-6c57-415d-acff-cce7bb65b9aa" providerId="ADAL" clId="{A19230FE-31F7-41A4-ABC9-711F32C203A9}" dt="2026-03-26T20:11:05.371" v="66" actId="113"/>
        <pc:sldMkLst>
          <pc:docMk/>
          <pc:sldMk cId="1238977356" sldId="282"/>
        </pc:sldMkLst>
        <pc:spChg chg="mod">
          <ac:chgData name="Zahid  Mehmood" userId="81925f02-6c57-415d-acff-cce7bb65b9aa" providerId="ADAL" clId="{A19230FE-31F7-41A4-ABC9-711F32C203A9}" dt="2026-03-26T20:11:05.371" v="66" actId="113"/>
          <ac:spMkLst>
            <pc:docMk/>
            <pc:sldMk cId="1238977356" sldId="282"/>
            <ac:spMk id="3" creationId="{9EDE9D7C-2049-21A2-BEEC-C4158C8DDC2A}"/>
          </ac:spMkLst>
        </pc:spChg>
      </pc:sldChg>
      <pc:sldChg chg="modSp mod">
        <pc:chgData name="Zahid  Mehmood" userId="81925f02-6c57-415d-acff-cce7bb65b9aa" providerId="ADAL" clId="{A19230FE-31F7-41A4-ABC9-711F32C203A9}" dt="2026-03-26T20:11:56.576" v="73" actId="113"/>
        <pc:sldMkLst>
          <pc:docMk/>
          <pc:sldMk cId="3429237263" sldId="283"/>
        </pc:sldMkLst>
        <pc:spChg chg="mod">
          <ac:chgData name="Zahid  Mehmood" userId="81925f02-6c57-415d-acff-cce7bb65b9aa" providerId="ADAL" clId="{A19230FE-31F7-41A4-ABC9-711F32C203A9}" dt="2026-03-26T20:11:56.576" v="73" actId="113"/>
          <ac:spMkLst>
            <pc:docMk/>
            <pc:sldMk cId="3429237263" sldId="283"/>
            <ac:spMk id="3" creationId="{D15C63AA-972E-C8BA-6135-F1D28963BC98}"/>
          </ac:spMkLst>
        </pc:spChg>
      </pc:sldChg>
      <pc:sldChg chg="modSp mod">
        <pc:chgData name="Zahid  Mehmood" userId="81925f02-6c57-415d-acff-cce7bb65b9aa" providerId="ADAL" clId="{A19230FE-31F7-41A4-ABC9-711F32C203A9}" dt="2026-03-26T20:12:12.352" v="76" actId="113"/>
        <pc:sldMkLst>
          <pc:docMk/>
          <pc:sldMk cId="3203253303" sldId="284"/>
        </pc:sldMkLst>
        <pc:spChg chg="mod">
          <ac:chgData name="Zahid  Mehmood" userId="81925f02-6c57-415d-acff-cce7bb65b9aa" providerId="ADAL" clId="{A19230FE-31F7-41A4-ABC9-711F32C203A9}" dt="2026-03-26T20:12:12.352" v="76" actId="113"/>
          <ac:spMkLst>
            <pc:docMk/>
            <pc:sldMk cId="3203253303" sldId="284"/>
            <ac:spMk id="3" creationId="{C6C6D177-9760-E2A6-F75D-699B93CC2D99}"/>
          </ac:spMkLst>
        </pc:spChg>
      </pc:sldChg>
      <pc:sldChg chg="modSp mod">
        <pc:chgData name="Zahid  Mehmood" userId="81925f02-6c57-415d-acff-cce7bb65b9aa" providerId="ADAL" clId="{A19230FE-31F7-41A4-ABC9-711F32C203A9}" dt="2026-03-26T20:16:50.511" v="77" actId="255"/>
        <pc:sldMkLst>
          <pc:docMk/>
          <pc:sldMk cId="2512759317" sldId="301"/>
        </pc:sldMkLst>
        <pc:spChg chg="mod">
          <ac:chgData name="Zahid  Mehmood" userId="81925f02-6c57-415d-acff-cce7bb65b9aa" providerId="ADAL" clId="{A19230FE-31F7-41A4-ABC9-711F32C203A9}" dt="2026-03-26T20:16:50.511" v="77" actId="255"/>
          <ac:spMkLst>
            <pc:docMk/>
            <pc:sldMk cId="2512759317" sldId="301"/>
            <ac:spMk id="3" creationId="{8429B82C-5A9A-00D1-4EA6-B69FB2DAF540}"/>
          </ac:spMkLst>
        </pc:spChg>
      </pc:sldChg>
      <pc:sldChg chg="modSp add mod">
        <pc:chgData name="Zahid  Mehmood" userId="81925f02-6c57-415d-acff-cce7bb65b9aa" providerId="ADAL" clId="{A19230FE-31F7-41A4-ABC9-711F32C203A9}" dt="2026-03-27T04:10:38.267" v="80" actId="27636"/>
        <pc:sldMkLst>
          <pc:docMk/>
          <pc:sldMk cId="3754462299" sldId="302"/>
        </pc:sldMkLst>
        <pc:spChg chg="mod">
          <ac:chgData name="Zahid  Mehmood" userId="81925f02-6c57-415d-acff-cce7bb65b9aa" providerId="ADAL" clId="{A19230FE-31F7-41A4-ABC9-711F32C203A9}" dt="2026-03-27T04:10:38.267" v="80" actId="27636"/>
          <ac:spMkLst>
            <pc:docMk/>
            <pc:sldMk cId="3754462299" sldId="302"/>
            <ac:spMk id="3" creationId="{0AFC606C-B6EE-0891-7751-03FA1D0578BD}"/>
          </ac:spMkLst>
        </pc:spChg>
      </pc:sldChg>
      <pc:sldChg chg="modSp add mod">
        <pc:chgData name="Zahid  Mehmood" userId="81925f02-6c57-415d-acff-cce7bb65b9aa" providerId="ADAL" clId="{A19230FE-31F7-41A4-ABC9-711F32C203A9}" dt="2026-03-27T04:11:32.190" v="86" actId="14100"/>
        <pc:sldMkLst>
          <pc:docMk/>
          <pc:sldMk cId="3725694067" sldId="303"/>
        </pc:sldMkLst>
        <pc:spChg chg="mod">
          <ac:chgData name="Zahid  Mehmood" userId="81925f02-6c57-415d-acff-cce7bb65b9aa" providerId="ADAL" clId="{A19230FE-31F7-41A4-ABC9-711F32C203A9}" dt="2026-03-27T04:11:32.190" v="86" actId="14100"/>
          <ac:spMkLst>
            <pc:docMk/>
            <pc:sldMk cId="3725694067" sldId="303"/>
            <ac:spMk id="3" creationId="{A9653055-AE72-76E5-092D-415758F3F316}"/>
          </ac:spMkLst>
        </pc:spChg>
      </pc:sldChg>
      <pc:sldChg chg="modSp add mod">
        <pc:chgData name="Zahid  Mehmood" userId="81925f02-6c57-415d-acff-cce7bb65b9aa" providerId="ADAL" clId="{A19230FE-31F7-41A4-ABC9-711F32C203A9}" dt="2026-03-27T06:15:49.524" v="142" actId="27636"/>
        <pc:sldMkLst>
          <pc:docMk/>
          <pc:sldMk cId="733524283" sldId="304"/>
        </pc:sldMkLst>
        <pc:spChg chg="mod">
          <ac:chgData name="Zahid  Mehmood" userId="81925f02-6c57-415d-acff-cce7bb65b9aa" providerId="ADAL" clId="{A19230FE-31F7-41A4-ABC9-711F32C203A9}" dt="2026-03-27T06:15:49.524" v="142" actId="27636"/>
          <ac:spMkLst>
            <pc:docMk/>
            <pc:sldMk cId="733524283" sldId="304"/>
            <ac:spMk id="3" creationId="{4981F587-B209-E3BC-C64B-D615253EC0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7860F-9DA9-482F-B6A2-32212588147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C5F3A-87F1-457D-BEAD-27EE89611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7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4477-781D-444A-8DA5-4C88B6C577C8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13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63EE-20B6-432C-9D04-742E895047B0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4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91F9-6D79-46D4-AFEA-624587FD5EB6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43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D355-B6C9-44BE-82EC-CD2B43DB8629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720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2CEA-4924-4667-876B-78934F243918}" type="datetime1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8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D15C-66F3-40E8-B062-AD14A1739046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9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14F5C-63B8-4602-852F-E24BE6D27FCF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FC4E-608A-431F-90D3-9D5A8FDFE689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3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E7AB-B247-4D93-B764-081BAA30BA2B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02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8C0F-95AD-4234-9B7E-EAC106776691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02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A5A9-AC94-4476-9B4D-031679DA0692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13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F945-725A-4440-B4FB-A87372262927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4248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A2FF-522C-4AEB-9179-1C76B95C9F55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02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9E279-0231-4877-A154-8EC7D30BF1E9}" type="datetime1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95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1399-59C3-40B4-9183-CB4B1160F223}" type="datetime1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03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49F3-66DA-458A-8A6C-5B34C5D5B037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79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7136-37FA-4F3B-86EA-F06571783216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841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EB16-957F-9A1B-88E5-4A98EE950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60913-999B-5CD5-4E8B-B60897274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EEA8A-3EFD-BE9C-984E-A06706A38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9E8E8-B82D-41C1-B60A-244F0ECCA7A3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A3388-38E0-6239-AFBD-A53FFE9B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CAD87-DA5B-3976-C520-86AF22D6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3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6B83AD6-1403-4C1F-9479-CC4A7A6530E8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6DB02-73AF-4CB7-9666-665292CA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53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0E568-8E41-5EB0-9DDA-1382AF00E8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623178-409F-63D5-4AA0-BDA3CC8B9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Cybercrime and Legal Aspects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9B623-DB35-DE5A-7654-B2D8C6495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81342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Information Security | BS Level</a:t>
            </a:r>
          </a:p>
          <a:p>
            <a:r>
              <a:rPr lang="en-US" dirty="0">
                <a:solidFill>
                  <a:schemeClr val="tx1"/>
                </a:solidFill>
              </a:rPr>
              <a:t>Instructor : Dr. Zahid Mehmood</a:t>
            </a:r>
          </a:p>
          <a:p>
            <a:r>
              <a:rPr lang="en-US" dirty="0">
                <a:solidFill>
                  <a:schemeClr val="tx1"/>
                </a:solidFill>
              </a:rPr>
              <a:t>			  PHD Cyberspace Security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17D22-5B7E-53B2-C76B-A6BE60C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2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D1A86-572B-6B11-59A4-7E77E964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414FB-6132-D356-F420-5CC753F41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Understand Cybercrime</a:t>
            </a:r>
          </a:p>
          <a:p>
            <a:r>
              <a:rPr lang="en-US" sz="3200" dirty="0"/>
              <a:t>Analyze Laws (PECA, GDPR)</a:t>
            </a:r>
          </a:p>
          <a:p>
            <a:r>
              <a:rPr lang="en-US" sz="3200" dirty="0"/>
              <a:t>Evaluate Ethics</a:t>
            </a:r>
          </a:p>
          <a:p>
            <a:r>
              <a:rPr lang="en-US" sz="3200" dirty="0"/>
              <a:t>Apply Case Studies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DB0B5-B46A-2506-758C-FFE160AC6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50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2481-5967-F565-B54F-8A64C3EC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8831F-63F5-FF3E-4154-D68B60DD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95728"/>
            <a:ext cx="9404723" cy="767687"/>
          </a:xfrm>
        </p:spPr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5BF27-CC31-CD4E-74DE-2634A82E9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1383030"/>
            <a:ext cx="9938068" cy="5257800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Understand cybercrime and its types</a:t>
            </a:r>
            <a:br>
              <a:rPr lang="en-US" sz="2400" dirty="0"/>
            </a:br>
            <a:r>
              <a:rPr lang="en-US" sz="2400" dirty="0"/>
              <a:t>→ Identify different cybercrimes and how attackers exploit systems. This builds foundational knowledge.</a:t>
            </a:r>
          </a:p>
          <a:p>
            <a:pPr lvl="0"/>
            <a:r>
              <a:rPr lang="en-US" sz="2400" dirty="0"/>
              <a:t>Analyze laws and regulations</a:t>
            </a:r>
            <a:br>
              <a:rPr lang="en-US" sz="2400" dirty="0"/>
            </a:br>
            <a:r>
              <a:rPr lang="en-US" sz="2400" dirty="0"/>
              <a:t>→ Explore legal frameworks governing cyber activities, especially relevant national laws.</a:t>
            </a:r>
          </a:p>
          <a:p>
            <a:pPr lvl="0"/>
            <a:r>
              <a:rPr lang="en-US" sz="2400" dirty="0"/>
              <a:t>Evaluate ethical and legal issues</a:t>
            </a:r>
            <a:br>
              <a:rPr lang="en-US" sz="2400" dirty="0"/>
            </a:br>
            <a:r>
              <a:rPr lang="en-US" sz="2400" dirty="0"/>
              <a:t>→ Differentiate between legal compliance and ethical responsibility in cybersecurity roles.</a:t>
            </a:r>
          </a:p>
          <a:p>
            <a:pPr lvl="0"/>
            <a:r>
              <a:rPr lang="en-US" sz="2400" dirty="0"/>
              <a:t>Apply knowledge to real-world cases</a:t>
            </a:r>
            <a:br>
              <a:rPr lang="en-US" sz="2400" dirty="0"/>
            </a:br>
            <a:r>
              <a:rPr lang="en-US" sz="2400" dirty="0"/>
              <a:t>→ Case studies help connect theory with actual incidents, improving analytical skills.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E81EC-F877-DD84-B344-187B95F2C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2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EDF09-6432-2040-03B2-99676A51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DDC5-33F5-7789-89FF-24AC2DDA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Cybercrime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C758F-99E9-32E0-F94D-153358DCF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770" y="1616892"/>
            <a:ext cx="10972800" cy="4945379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Cybercrime refers to crimes using computers or networks</a:t>
            </a:r>
            <a:br>
              <a:rPr lang="en-US" sz="2800" dirty="0"/>
            </a:br>
            <a:r>
              <a:rPr lang="en-US" sz="2800" dirty="0"/>
              <a:t>→ It includes illegal activities performed via digital systems such as hacking or fraud. These crimes target data or infrastructure.</a:t>
            </a:r>
          </a:p>
          <a:p>
            <a:pPr lvl="0"/>
            <a:r>
              <a:rPr lang="en-US" sz="2800" b="1" dirty="0"/>
              <a:t>Increased due to digital transformation</a:t>
            </a:r>
            <a:br>
              <a:rPr lang="en-US" sz="2800" dirty="0"/>
            </a:br>
            <a:r>
              <a:rPr lang="en-US" sz="2800" dirty="0"/>
              <a:t>→ As businesses and services move online, attackers gain more opportunities to exploit vulnerabilities.</a:t>
            </a:r>
          </a:p>
          <a:p>
            <a:pPr lvl="0"/>
            <a:r>
              <a:rPr lang="en-US" sz="2800" b="1" dirty="0"/>
              <a:t>Affects individuals, organizations, governments</a:t>
            </a:r>
            <a:br>
              <a:rPr lang="en-US" sz="2800" dirty="0"/>
            </a:br>
            <a:r>
              <a:rPr lang="en-US" sz="2800" dirty="0"/>
              <a:t>→ Cybercrime can impact personal privacy, corporate assets, and national security.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F742C-C7F8-6B6B-5B8A-4642643D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7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8E8F6-A8AE-51CC-1615-E377314E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3D55-8853-DFD4-4E32-5F77127C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7687"/>
          </a:xfrm>
        </p:spPr>
        <p:txBody>
          <a:bodyPr/>
          <a:lstStyle/>
          <a:p>
            <a:r>
              <a:rPr lang="en-US" dirty="0"/>
              <a:t>Key Characteristics of Cybercrime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B2E30-DB2B-31DE-908B-35671B58B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770" y="1616892"/>
            <a:ext cx="10972800" cy="4945379"/>
          </a:xfrm>
        </p:spPr>
        <p:txBody>
          <a:bodyPr>
            <a:normAutofit/>
          </a:bodyPr>
          <a:lstStyle/>
          <a:p>
            <a:pPr lvl="0"/>
            <a:r>
              <a:rPr lang="en-US" sz="2400" b="1" dirty="0"/>
              <a:t>Borderless nature</a:t>
            </a:r>
            <a:br>
              <a:rPr lang="en-US" sz="2400" dirty="0"/>
            </a:br>
            <a:r>
              <a:rPr lang="en-US" sz="2400" dirty="0"/>
              <a:t>→ Cyber attacks can be launched from any country, making jurisdiction and law enforcement difficult.</a:t>
            </a:r>
          </a:p>
          <a:p>
            <a:pPr lvl="0"/>
            <a:r>
              <a:rPr lang="en-US" sz="2400" b="1" dirty="0"/>
              <a:t>Anonymity</a:t>
            </a:r>
            <a:br>
              <a:rPr lang="en-US" sz="2400" dirty="0"/>
            </a:br>
            <a:r>
              <a:rPr lang="en-US" sz="2400" dirty="0"/>
              <a:t>→ Attackers hide identities using tools like VPNs, making tracing and attribution challenging.</a:t>
            </a:r>
          </a:p>
          <a:p>
            <a:pPr lvl="0"/>
            <a:r>
              <a:rPr lang="en-US" sz="2400" b="1" dirty="0"/>
              <a:t>Rapid evolution</a:t>
            </a:r>
            <a:br>
              <a:rPr lang="en-US" sz="2400" dirty="0"/>
            </a:br>
            <a:r>
              <a:rPr lang="en-US" sz="2400" dirty="0"/>
              <a:t>→ New attack techniques emerge frequently, requiring constant updates in defense strategies.</a:t>
            </a:r>
          </a:p>
          <a:p>
            <a:pPr lvl="0"/>
            <a:r>
              <a:rPr lang="en-US" sz="2400" b="1" dirty="0"/>
              <a:t>Technical complexity</a:t>
            </a:r>
            <a:br>
              <a:rPr lang="en-US" sz="2400" dirty="0"/>
            </a:br>
            <a:r>
              <a:rPr lang="en-US" sz="2400" dirty="0"/>
              <a:t>→ Many attacks require deep technical knowledge, making detection and prevention harder.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73902-AF2E-EA31-2B1A-B75B46D52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08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0F90-B87C-3B1C-5605-755C3D5F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Cybercrime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79744-BA11-F03A-6B39-4478DE7E2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1291590"/>
            <a:ext cx="10442577" cy="4956809"/>
          </a:xfrm>
        </p:spPr>
        <p:txBody>
          <a:bodyPr>
            <a:normAutofit/>
          </a:bodyPr>
          <a:lstStyle/>
          <a:p>
            <a:pPr lvl="0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Hacking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→ Unauthorized access to systems to steal or manipulate data.</a:t>
            </a:r>
          </a:p>
          <a:p>
            <a:pPr lvl="0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Phishing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→ Deceptive communication used to trick users into revealing sensitive information.</a:t>
            </a:r>
          </a:p>
          <a:p>
            <a:pPr lvl="0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Malware attacks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→ Malicious software used to damage or control systems.</a:t>
            </a:r>
          </a:p>
          <a:p>
            <a:pPr lvl="0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Identity theft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→ Stealing personal data to commit fraud.</a:t>
            </a:r>
          </a:p>
          <a:p>
            <a:pPr lvl="0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Cyber terrorism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→ Attacks targeting national infrastructure or causing public fear.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702C5-EC62-BD5C-13C0-06B14B7B2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71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5FA0-2B52-F094-1F10-826956379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DDECC-FFEA-90B0-CAED-4ADA81BFA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1490" y="1440180"/>
            <a:ext cx="10584180" cy="4965102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Unauthorized access to systems</a:t>
            </a:r>
            <a:br>
              <a:rPr lang="en-US" sz="2800" dirty="0"/>
            </a:br>
            <a:r>
              <a:rPr lang="en-US" sz="2800" dirty="0"/>
              <a:t>→ Hackers break into systems without permission, often exploiting weak security controls.</a:t>
            </a:r>
          </a:p>
          <a:p>
            <a:pPr lvl="0"/>
            <a:r>
              <a:rPr lang="en-US" sz="2800" b="1" dirty="0"/>
              <a:t>Exploits vulnerabilities</a:t>
            </a:r>
            <a:br>
              <a:rPr lang="en-US" sz="2800" dirty="0"/>
            </a:br>
            <a:r>
              <a:rPr lang="en-US" sz="2800" dirty="0"/>
              <a:t>→ Common weaknesses include outdated software, weak passwords, or misconfigured servers.</a:t>
            </a:r>
          </a:p>
          <a:p>
            <a:pPr lvl="0"/>
            <a:r>
              <a:rPr lang="en-US" sz="2800" dirty="0"/>
              <a:t>Example: Data breach of a company database</a:t>
            </a:r>
            <a:br>
              <a:rPr lang="en-US" sz="2800" dirty="0"/>
            </a:br>
            <a:r>
              <a:rPr lang="en-US" sz="2800" dirty="0"/>
              <a:t>→ Sensitive customer data is stolen and sold on the dark web.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6A450-A5BD-01E3-65FB-B08975B0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72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C4D9-B06B-4E63-B27D-0E3485F7A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Phishing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D6404-D735-B676-11A2-4535121C8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130" y="1325880"/>
            <a:ext cx="10464830" cy="4922519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Fake emails or websites</a:t>
            </a:r>
            <a:br>
              <a:rPr lang="en-US" sz="2800" dirty="0"/>
            </a:br>
            <a:r>
              <a:rPr lang="en-US" sz="2800" dirty="0"/>
              <a:t>→ Attackers design messages that appear legitimate to deceive users.</a:t>
            </a:r>
          </a:p>
          <a:p>
            <a:pPr lvl="0"/>
            <a:r>
              <a:rPr lang="en-US" sz="2800" b="1" dirty="0"/>
              <a:t>Tricks users to reveal data</a:t>
            </a:r>
            <a:br>
              <a:rPr lang="en-US" sz="2800" dirty="0"/>
            </a:br>
            <a:r>
              <a:rPr lang="en-US" sz="2800" dirty="0"/>
              <a:t>→ Victims unknowingly enter credentials or financial details.</a:t>
            </a:r>
          </a:p>
          <a:p>
            <a:pPr lvl="0"/>
            <a:r>
              <a:rPr lang="en-US" sz="2800" dirty="0"/>
              <a:t>Example: Email pretending to be from a bank</a:t>
            </a:r>
            <a:br>
              <a:rPr lang="en-US" sz="2800" dirty="0"/>
            </a:br>
            <a:r>
              <a:rPr lang="en-US" sz="2800" dirty="0"/>
              <a:t>→ Users are redirected to fake login pages to steal credentials.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AA976-872D-DF57-1526-4EBC9A22B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31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DB743-0850-22BB-BD39-23B62C983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Malware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C4E4E-F251-6711-C684-F181F3C6E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360170"/>
            <a:ext cx="10383839" cy="4888229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Malicious software</a:t>
            </a:r>
            <a:br>
              <a:rPr lang="en-US" sz="2800" dirty="0"/>
            </a:br>
            <a:r>
              <a:rPr lang="en-US" sz="2800" dirty="0"/>
              <a:t>→ Includes viruses, worms, spyware, and ransomware designed to harm systems.</a:t>
            </a:r>
          </a:p>
          <a:p>
            <a:pPr lvl="0"/>
            <a:r>
              <a:rPr lang="en-US" sz="2800" b="1" dirty="0"/>
              <a:t>Can damage or lock systems</a:t>
            </a:r>
            <a:br>
              <a:rPr lang="en-US" sz="2800" dirty="0"/>
            </a:br>
            <a:r>
              <a:rPr lang="en-US" sz="2800" dirty="0"/>
              <a:t>→ Ransomware encrypts data and demands payment for access.</a:t>
            </a:r>
          </a:p>
          <a:p>
            <a:r>
              <a:rPr lang="en-US" sz="2800" b="1" dirty="0"/>
              <a:t>Example: </a:t>
            </a:r>
            <a:r>
              <a:rPr lang="en-US" sz="2800" dirty="0"/>
              <a:t>WannaCry attack affecting hospitals</a:t>
            </a:r>
            <a:br>
              <a:rPr lang="en-US" sz="2800" dirty="0"/>
            </a:br>
            <a:r>
              <a:rPr lang="en-US" sz="2800" dirty="0"/>
              <a:t>→ Disrupted healthcare services globally by locking patient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F800D-D1DF-E9D2-C3A5-B3376D77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12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A8CA9-2973-43F3-0FE7-C1B37B0BD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B92B-EB07-822D-3B47-314BF5AB2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Identity Theft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2D8CE-0366-5D03-62EC-9D1FB41CE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360170"/>
            <a:ext cx="10383839" cy="4888229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Stealing personal data</a:t>
            </a:r>
            <a:br>
              <a:rPr lang="en-US" sz="2800" dirty="0"/>
            </a:br>
            <a:r>
              <a:rPr lang="en-US" sz="2800" dirty="0"/>
              <a:t>→ Attackers obtain CNIC, passwords, or bank details illegally.</a:t>
            </a:r>
          </a:p>
          <a:p>
            <a:pPr lvl="0"/>
            <a:r>
              <a:rPr lang="en-US" sz="2800" b="1" dirty="0"/>
              <a:t>Used for fraud</a:t>
            </a:r>
            <a:br>
              <a:rPr lang="en-US" sz="2800" dirty="0"/>
            </a:br>
            <a:r>
              <a:rPr lang="en-US" sz="2800" dirty="0"/>
              <a:t>→ Stolen data is used to make unauthorized transactions.</a:t>
            </a:r>
          </a:p>
          <a:p>
            <a:pPr lvl="0"/>
            <a:r>
              <a:rPr lang="en-US" sz="2800" dirty="0"/>
              <a:t>Example: Using stolen data for online shopping</a:t>
            </a:r>
            <a:br>
              <a:rPr lang="en-US" sz="2800" dirty="0"/>
            </a:br>
            <a:r>
              <a:rPr lang="en-US" sz="2800" dirty="0"/>
              <a:t>→ Fraudsters purchase goods using victim’s financial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BB905-FCAE-9B87-22EC-7825C76B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08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31C56-138C-B564-7430-F18B86D01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4020F-C448-D349-E67D-20B0E122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Cyber Terrorism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71709-4CBE-94BE-689C-F137FDAFA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360170"/>
            <a:ext cx="10383839" cy="4888229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Attacks on critical infrastructure</a:t>
            </a:r>
            <a:br>
              <a:rPr lang="en-US" sz="2800" dirty="0"/>
            </a:br>
            <a:r>
              <a:rPr lang="en-US" sz="2800" dirty="0"/>
              <a:t>→ Targets include power grids, transportation, or defense systems.</a:t>
            </a:r>
          </a:p>
          <a:p>
            <a:pPr lvl="0"/>
            <a:r>
              <a:rPr lang="en-US" sz="2800" b="1" dirty="0"/>
              <a:t>Motivated by political goals</a:t>
            </a:r>
            <a:br>
              <a:rPr lang="en-US" sz="2800" dirty="0"/>
            </a:br>
            <a:r>
              <a:rPr lang="en-US" sz="2800" dirty="0"/>
              <a:t>→ Aims to create fear or disrupt national stability.</a:t>
            </a:r>
          </a:p>
          <a:p>
            <a:r>
              <a:rPr lang="en-US" sz="2800" dirty="0"/>
              <a:t>Example: Disrupting national communication systems</a:t>
            </a:r>
            <a:br>
              <a:rPr lang="en-US" sz="2800" dirty="0"/>
            </a:br>
            <a:r>
              <a:rPr lang="en-US" sz="2800" dirty="0"/>
              <a:t>→ Causes widespread panic and economic loss.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8FF5F-5373-7AA7-2405-A9B26C5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19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A5A3-C25A-E6A9-1C5A-32F988C6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Cybercrime Lifecycle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915457-A0A7-D54F-2A98-F8DE3B7E85C8}"/>
              </a:ext>
            </a:extLst>
          </p:cNvPr>
          <p:cNvSpPr/>
          <p:nvPr/>
        </p:nvSpPr>
        <p:spPr>
          <a:xfrm>
            <a:off x="762000" y="1276827"/>
            <a:ext cx="2038350" cy="762000"/>
          </a:xfrm>
          <a:prstGeom prst="roundRect">
            <a:avLst/>
          </a:prstGeom>
          <a:solidFill>
            <a:srgbClr val="0066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FFF"/>
                </a:solidFill>
              </a:rPr>
              <a:t>Recon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F47B99-1F8F-00E1-E3C1-523499A8DDFD}"/>
              </a:ext>
            </a:extLst>
          </p:cNvPr>
          <p:cNvSpPr/>
          <p:nvPr/>
        </p:nvSpPr>
        <p:spPr>
          <a:xfrm>
            <a:off x="2999686" y="1276827"/>
            <a:ext cx="2038350" cy="762000"/>
          </a:xfrm>
          <a:prstGeom prst="roundRect">
            <a:avLst/>
          </a:prstGeom>
          <a:solidFill>
            <a:srgbClr val="0066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FFF"/>
                </a:solidFill>
              </a:rPr>
              <a:t>Attack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2C9E63-4CB1-D9DF-0725-DD970ADA83BC}"/>
              </a:ext>
            </a:extLst>
          </p:cNvPr>
          <p:cNvSpPr/>
          <p:nvPr/>
        </p:nvSpPr>
        <p:spPr>
          <a:xfrm>
            <a:off x="5339742" y="1311039"/>
            <a:ext cx="2038350" cy="762000"/>
          </a:xfrm>
          <a:prstGeom prst="roundRect">
            <a:avLst/>
          </a:prstGeom>
          <a:solidFill>
            <a:srgbClr val="0066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Exploit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2C445D-566C-EC1B-8CBD-66ED3D3666FA}"/>
              </a:ext>
            </a:extLst>
          </p:cNvPr>
          <p:cNvSpPr/>
          <p:nvPr/>
        </p:nvSpPr>
        <p:spPr>
          <a:xfrm>
            <a:off x="8128373" y="1332311"/>
            <a:ext cx="2038350" cy="762000"/>
          </a:xfrm>
          <a:prstGeom prst="roundRect">
            <a:avLst/>
          </a:prstGeom>
          <a:solidFill>
            <a:srgbClr val="0066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Exfiltrate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AB420-B5E0-AC12-09B2-77B70ECAE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358F5-C962-C614-C950-993F0B553D23}"/>
              </a:ext>
            </a:extLst>
          </p:cNvPr>
          <p:cNvSpPr txBox="1"/>
          <p:nvPr/>
        </p:nvSpPr>
        <p:spPr>
          <a:xfrm>
            <a:off x="584656" y="2677357"/>
            <a:ext cx="110226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/>
              <a:t>Reconnaissance</a:t>
            </a:r>
            <a:br>
              <a:rPr lang="en-US" sz="2400" dirty="0"/>
            </a:br>
            <a:r>
              <a:rPr lang="en-US" sz="2400" dirty="0"/>
              <a:t>→ Attackers gather information about targets such as IP addresses and vulnerabilities.</a:t>
            </a:r>
          </a:p>
          <a:p>
            <a:pPr lvl="0"/>
            <a:r>
              <a:rPr lang="en-US" sz="2400" b="1" dirty="0"/>
              <a:t>Attack</a:t>
            </a:r>
            <a:br>
              <a:rPr lang="en-US" sz="2400" dirty="0"/>
            </a:br>
            <a:r>
              <a:rPr lang="en-US" sz="2400" dirty="0"/>
              <a:t>→ Initial attempt to exploit the system using identified weaknesses.</a:t>
            </a:r>
          </a:p>
          <a:p>
            <a:pPr lvl="0"/>
            <a:r>
              <a:rPr lang="en-US" sz="2400" b="1" dirty="0"/>
              <a:t>Exploitation</a:t>
            </a:r>
            <a:br>
              <a:rPr lang="en-US" sz="2400" dirty="0"/>
            </a:br>
            <a:r>
              <a:rPr lang="en-US" sz="2400" dirty="0"/>
              <a:t>→ Gaining deeper control or privilege escalation within the system.</a:t>
            </a:r>
          </a:p>
          <a:p>
            <a:r>
              <a:rPr lang="en-US" sz="2400" b="1" dirty="0"/>
              <a:t>Exfiltration</a:t>
            </a:r>
            <a:br>
              <a:rPr lang="en-US" sz="2400" dirty="0"/>
            </a:br>
            <a:r>
              <a:rPr lang="en-US" sz="2400" dirty="0"/>
              <a:t>→ Extracting sensitive data for misuse or sale</a:t>
            </a:r>
          </a:p>
        </p:txBody>
      </p:sp>
    </p:spTree>
    <p:extLst>
      <p:ext uri="{BB962C8B-B14F-4D97-AF65-F5344CB8AC3E}">
        <p14:creationId xmlns:p14="http://schemas.microsoft.com/office/powerpoint/2010/main" val="936372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F3004-57E8-1343-DEF1-6BC23039D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B273-E45B-CCFC-2E66-60500ADC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Actors in Cybercrime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A2DD3-4BD8-2023-FA76-3C1270D35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360170"/>
            <a:ext cx="11545889" cy="4888229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Script kiddies</a:t>
            </a:r>
            <a:br>
              <a:rPr lang="en-US" sz="2800" dirty="0"/>
            </a:br>
            <a:r>
              <a:rPr lang="en-US" sz="2800" dirty="0"/>
              <a:t>→ Beginners who use pre-made tools without deep knowledge.</a:t>
            </a:r>
          </a:p>
          <a:p>
            <a:pPr lvl="0"/>
            <a:r>
              <a:rPr lang="en-US" sz="2800" b="1" dirty="0"/>
              <a:t>Organized crime groups</a:t>
            </a:r>
            <a:br>
              <a:rPr lang="en-US" sz="2800" dirty="0"/>
            </a:br>
            <a:r>
              <a:rPr lang="en-US" sz="2800" dirty="0"/>
              <a:t>→ Professional attackers focused on financial gain.</a:t>
            </a:r>
          </a:p>
          <a:p>
            <a:r>
              <a:rPr lang="en-US" sz="2800" b="1" dirty="0"/>
              <a:t>Nation-state actors</a:t>
            </a:r>
            <a:br>
              <a:rPr lang="en-US" sz="2800" dirty="0"/>
            </a:br>
            <a:r>
              <a:rPr lang="en-US" sz="2800" dirty="0"/>
              <a:t>→ Government-backed hackers targeting strategic assets.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739CA-D47D-55B0-4A56-798E051A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63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6AC40-B9E6-5FD0-4562-E99D68BB1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1D148-4848-3F09-1F4A-2BDA331E1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Impact of Cybercrime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BD852-E12F-DD4A-8F44-2AF2D4C6A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360170"/>
            <a:ext cx="10383839" cy="4888229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Financial losses</a:t>
            </a:r>
            <a:br>
              <a:rPr lang="en-US" sz="2800" dirty="0"/>
            </a:br>
            <a:r>
              <a:rPr lang="en-US" sz="2800" dirty="0"/>
              <a:t>→ Organizations lose money due to fraud, recovery, and downtime.</a:t>
            </a:r>
          </a:p>
          <a:p>
            <a:pPr lvl="0"/>
            <a:r>
              <a:rPr lang="en-US" sz="2800" b="1" dirty="0"/>
              <a:t>Reputational damage</a:t>
            </a:r>
            <a:br>
              <a:rPr lang="en-US" sz="2800" dirty="0"/>
            </a:br>
            <a:r>
              <a:rPr lang="en-US" sz="2800" dirty="0"/>
              <a:t>→ Loss of trust can reduce customers and business opportunities.</a:t>
            </a:r>
          </a:p>
          <a:p>
            <a:pPr lvl="0"/>
            <a:r>
              <a:rPr lang="en-US" sz="2800" b="1" dirty="0"/>
              <a:t>Legal consequences</a:t>
            </a:r>
            <a:br>
              <a:rPr lang="en-US" sz="2800" dirty="0"/>
            </a:br>
            <a:r>
              <a:rPr lang="en-US" sz="2800" dirty="0"/>
              <a:t>→ Organizations may face lawsuits or regulatory penalties.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3EA85-9B9C-860F-4D9F-EF436358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99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1D76B-0E06-9EBE-9967-7AE4493E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5FA3-5675-08B4-4A95-68B5B36A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Laws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E9D7C-2049-21A2-BEEC-C4158C8DD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360170"/>
            <a:ext cx="10899778" cy="4888229"/>
          </a:xfrm>
        </p:spPr>
        <p:txBody>
          <a:bodyPr>
            <a:normAutofit/>
          </a:bodyPr>
          <a:lstStyle/>
          <a:p>
            <a:r>
              <a:rPr lang="en-US" sz="2800" b="1" dirty="0"/>
              <a:t>Laws regulate online behavior</a:t>
            </a:r>
            <a:br>
              <a:rPr lang="en-US" sz="2800" dirty="0"/>
            </a:br>
            <a:r>
              <a:rPr lang="en-US" sz="2800" dirty="0"/>
              <a:t>→ Define acceptable and illegal actions in cyberspace.</a:t>
            </a:r>
          </a:p>
          <a:p>
            <a:pPr lvl="0"/>
            <a:r>
              <a:rPr lang="en-US" sz="2800" b="1" dirty="0"/>
              <a:t>Protect users and organizations</a:t>
            </a:r>
            <a:br>
              <a:rPr lang="en-US" sz="2800" dirty="0"/>
            </a:br>
            <a:r>
              <a:rPr lang="en-US" sz="2800" dirty="0"/>
              <a:t>→ Ensure safety of personal and organizational data.</a:t>
            </a:r>
          </a:p>
          <a:p>
            <a:pPr lvl="0"/>
            <a:r>
              <a:rPr lang="en-US" sz="2800" b="1" dirty="0"/>
              <a:t>Provide punishment for crimes</a:t>
            </a:r>
            <a:br>
              <a:rPr lang="en-US" sz="2800" dirty="0"/>
            </a:br>
            <a:r>
              <a:rPr lang="en-US" sz="2800" dirty="0"/>
              <a:t>→ Act as deterrents against cybercriminal activities.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41801-8ACB-B33D-98D3-22360506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77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03C7-E6E5-31A3-21E1-63009D7CF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Global Cyber Laws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1D5D2-EAB2-8BD5-C898-8BC04CCC2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10006648" cy="4195481"/>
          </a:xfrm>
        </p:spPr>
        <p:txBody>
          <a:bodyPr>
            <a:normAutofit fontScale="92500"/>
          </a:bodyPr>
          <a:lstStyle/>
          <a:p>
            <a:pPr lvl="0"/>
            <a:r>
              <a:rPr lang="en-US" sz="2400" b="1" dirty="0"/>
              <a:t>GDPR  (General Data Protection Regulation ) EU</a:t>
            </a:r>
            <a:br>
              <a:rPr lang="en-US" sz="2400" dirty="0"/>
            </a:br>
            <a:r>
              <a:rPr lang="en-US" sz="2400" dirty="0"/>
              <a:t>→ Ensures data privacy and gives users control over personal data.</a:t>
            </a:r>
          </a:p>
          <a:p>
            <a:r>
              <a:rPr lang="en-US" sz="2400" b="1" dirty="0"/>
              <a:t>Computer Fraud and Abuse Act (CFAA – United States)</a:t>
            </a:r>
          </a:p>
          <a:p>
            <a:pPr marL="0" lvl="0" indent="0">
              <a:buNone/>
            </a:pPr>
            <a:r>
              <a:rPr lang="en-US" sz="2400" dirty="0"/>
              <a:t>	→ Criminalizes unauthorized access to computer systems.</a:t>
            </a:r>
          </a:p>
          <a:p>
            <a:pPr lvl="0"/>
            <a:r>
              <a:rPr lang="en-US" sz="2400" dirty="0"/>
              <a:t>Example: Companies fined for data breaches</a:t>
            </a:r>
            <a:br>
              <a:rPr lang="en-US" sz="2400" dirty="0"/>
            </a:br>
            <a:r>
              <a:rPr lang="en-US" sz="2400" dirty="0"/>
              <a:t>→ Non-compliance leads to heavy penalties.</a:t>
            </a:r>
          </a:p>
          <a:p>
            <a:r>
              <a:rPr lang="en-US" sz="2400" b="1" dirty="0"/>
              <a:t>Health Insurance Portability and Accountability Act (HIPAA – USA)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dirty="0"/>
              <a:t>HIPAA is a United States law designed to protect sensitive patient health information (PHI)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2F3AB-B955-5E9A-D0D0-E79BFCAD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48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F2EA1-7356-B54C-EAB2-EFF1FAEB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01DD7-E227-42AE-2BA4-B2B88308F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Global Cyber Laws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C606C-B6EE-0891-7751-03FA1D057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10006648" cy="4195481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General Data Protection Regulation (GDPR – European Union)</a:t>
            </a:r>
          </a:p>
          <a:p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GDPR is a comprehensive data protection law in the European Union that regulates how organizations collect, process, store, and share personal data of individuals.</a:t>
            </a:r>
          </a:p>
          <a:p>
            <a:r>
              <a:rPr lang="en-US" sz="2400" b="1" dirty="0"/>
              <a:t>Explanation:</a:t>
            </a:r>
            <a:br>
              <a:rPr lang="en-US" sz="2400" dirty="0"/>
            </a:br>
            <a:r>
              <a:rPr lang="en-US" sz="2400" dirty="0"/>
              <a:t>It ensures </a:t>
            </a:r>
            <a:r>
              <a:rPr lang="en-US" sz="2400" b="1" dirty="0"/>
              <a:t>data privacy and security</a:t>
            </a:r>
            <a:r>
              <a:rPr lang="en-US" sz="2400" dirty="0"/>
              <a:t> by giving individuals control over their personal information, such as the right to access, correct, or delete their data (“Right to be Forgotten”).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When a website asks for cookie consent or allows users to download/delete their data, it is complying with GDPR.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6C569-9E56-46D9-7DA0-88227B10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62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2A0A-825A-CB67-2D32-DE9896A0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2EF16-9C40-4545-B2E8-448A13C1D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Global Cyber Laws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53055-AE72-76E5-092D-415758F3F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1485900"/>
            <a:ext cx="10006648" cy="5076371"/>
          </a:xfrm>
        </p:spPr>
        <p:txBody>
          <a:bodyPr>
            <a:normAutofit/>
          </a:bodyPr>
          <a:lstStyle/>
          <a:p>
            <a:r>
              <a:rPr lang="en-US" sz="2400" b="1" dirty="0"/>
              <a:t>⚖️ Computer Fraud and Abuse Act (CFAA – United States)</a:t>
            </a:r>
          </a:p>
          <a:p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CFAA is a U.S. federal law that criminalizes unauthorized access to computers, networks, and information systems.</a:t>
            </a:r>
          </a:p>
          <a:p>
            <a:r>
              <a:rPr lang="en-US" sz="2400" b="1" dirty="0"/>
              <a:t>Explanation:</a:t>
            </a:r>
            <a:br>
              <a:rPr lang="en-US" sz="2400" dirty="0"/>
            </a:br>
            <a:r>
              <a:rPr lang="en-US" sz="2400" dirty="0"/>
              <a:t>It is primarily used to prosecute hacking, insider misuse, and cyber fraud by defining what constitutes illegal access or exceeding authorized access.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If an employee accesses restricted company data without permission, they can be charged under CFAA.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26A10-4903-017E-574A-DE489206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94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5E3A0-ECD7-DEF6-1FCA-3FC293FD8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DDACE-B7C8-84B4-B403-CC7348968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Global Cyber Laws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1F587-B209-E3BC-C64B-D615253EC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1" y="1383030"/>
            <a:ext cx="10087427" cy="5179241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Health Insurance Portability and Accountability Act (HIPAA – USA)</a:t>
            </a:r>
          </a:p>
          <a:p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HIPAA is a United States law designed to protect </a:t>
            </a:r>
            <a:r>
              <a:rPr lang="en-US" sz="2400" b="1" dirty="0"/>
              <a:t>sensitive patient health information (PHI)</a:t>
            </a:r>
            <a:r>
              <a:rPr lang="en-US" sz="2400" dirty="0"/>
              <a:t> from being disclosed without the patient’s consent or knowledge.</a:t>
            </a:r>
          </a:p>
          <a:p>
            <a:r>
              <a:rPr lang="en-US" sz="2400" b="1" dirty="0"/>
              <a:t>Explanation:</a:t>
            </a:r>
            <a:br>
              <a:rPr lang="en-US" sz="2400" dirty="0"/>
            </a:br>
            <a:r>
              <a:rPr lang="en-US" sz="2400" dirty="0"/>
              <a:t>It sets strict rules for healthcare providers, hospitals, and insurance companies on how to </a:t>
            </a:r>
            <a:r>
              <a:rPr lang="en-US" sz="2400" b="1" dirty="0"/>
              <a:t>store, access, and share medical data securely</a:t>
            </a:r>
            <a:r>
              <a:rPr lang="en-US" sz="2400" dirty="0"/>
              <a:t>. It also ensures patients have rights to access and control their medical records.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A hospital cannot share a patient’s medical report with a third party (e.g., employer or insurance agent) without proper authorization. Violations can result in heavy fines or legal action.</a:t>
            </a:r>
            <a:endParaRPr lang="en-US" sz="2400" b="1" dirty="0"/>
          </a:p>
          <a:p>
            <a:r>
              <a:rPr lang="en-US" sz="2400" dirty="0"/>
              <a:t>👉 </a:t>
            </a:r>
            <a:r>
              <a:rPr lang="en-US" sz="2400" b="1" dirty="0"/>
              <a:t>HIPAA = Protects medical data (healthcare privacy law)</a:t>
            </a:r>
            <a:br>
              <a:rPr lang="en-US" sz="2400"/>
            </a:b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9D88F-0EF1-E20C-2FD6-1A3B37C69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24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97AB-D510-A600-F30D-754D89483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Pakistan Cyber Law (PECA 2016)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00FFD-8D78-08E6-319D-D5216DFB9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2052918"/>
            <a:ext cx="11126789" cy="4195481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PECA 2016</a:t>
            </a:r>
            <a:br>
              <a:rPr lang="en-US" sz="2800" b="1" dirty="0"/>
            </a:br>
            <a:r>
              <a:rPr lang="en-US" sz="2800" dirty="0"/>
              <a:t>→ Comprehensive law addressing cybercrime in Pakistan.</a:t>
            </a:r>
          </a:p>
          <a:p>
            <a:pPr lvl="0"/>
            <a:r>
              <a:rPr lang="en-US" sz="2800" b="1" dirty="0"/>
              <a:t>FIA Cyber Crime Wing</a:t>
            </a:r>
            <a:br>
              <a:rPr lang="en-US" sz="2800" dirty="0"/>
            </a:br>
            <a:r>
              <a:rPr lang="en-US" sz="2800" dirty="0"/>
              <a:t>→ Responsible for investigation and enforcement.</a:t>
            </a:r>
          </a:p>
          <a:p>
            <a:pPr lvl="0"/>
            <a:r>
              <a:rPr lang="en-US" sz="2800" dirty="0"/>
              <a:t>Example: Arrests for online fraud</a:t>
            </a:r>
            <a:br>
              <a:rPr lang="en-US" sz="2800" dirty="0"/>
            </a:br>
            <a:r>
              <a:rPr lang="en-US" sz="2800" dirty="0"/>
              <a:t>→ Law enforcement action against cybercriminals.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58D46-D6BB-16CB-8811-D293B2E59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19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B366-55F8-F4A8-590F-E566A646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7232E-8805-012F-C7EF-4E1D1E542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Provisions of PECA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C63AA-972E-C8BA-6135-F1D28963B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2052918"/>
            <a:ext cx="11126789" cy="4195481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Unauthorized access</a:t>
            </a:r>
            <a:br>
              <a:rPr lang="en-US" sz="2800" b="1" dirty="0"/>
            </a:br>
            <a:r>
              <a:rPr lang="en-US" sz="2800" dirty="0"/>
              <a:t>→ Illegal entry into systems is punishable.</a:t>
            </a:r>
          </a:p>
          <a:p>
            <a:pPr lvl="0"/>
            <a:r>
              <a:rPr lang="en-US" sz="2800" b="1" dirty="0"/>
              <a:t>Data damage</a:t>
            </a:r>
            <a:br>
              <a:rPr lang="en-US" sz="2800" dirty="0"/>
            </a:br>
            <a:r>
              <a:rPr lang="en-US" sz="2800" dirty="0"/>
              <a:t>→ Altering or destroying data is a criminal offense.</a:t>
            </a:r>
          </a:p>
          <a:p>
            <a:pPr lvl="0"/>
            <a:r>
              <a:rPr lang="en-US" sz="2800" b="1" dirty="0"/>
              <a:t>Cyber terrorism</a:t>
            </a:r>
            <a:br>
              <a:rPr lang="en-US" sz="2800" dirty="0"/>
            </a:br>
            <a:r>
              <a:rPr lang="en-US" sz="2800" dirty="0"/>
              <a:t>→ Severe penalties for attacks on national security.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58C5E-55E9-4BCC-C94E-0C97D801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37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147D7-4CA1-50C8-0FE8-95B33779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3CA4F-8445-CD24-0418-7D8A894D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Digital Evidence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6D177-9760-E2A6-F75D-699B93CC2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2052918"/>
            <a:ext cx="11126789" cy="4195481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Evidence in digital form</a:t>
            </a:r>
            <a:br>
              <a:rPr lang="en-US" sz="2800" dirty="0"/>
            </a:br>
            <a:r>
              <a:rPr lang="en-US" sz="2800" dirty="0"/>
              <a:t>→ Includes logs, emails, and digital files used in investigations.</a:t>
            </a:r>
          </a:p>
          <a:p>
            <a:pPr lvl="0"/>
            <a:r>
              <a:rPr lang="en-US" sz="2800" b="1" dirty="0"/>
              <a:t>Must be preserved properly</a:t>
            </a:r>
            <a:br>
              <a:rPr lang="en-US" sz="2800" dirty="0"/>
            </a:br>
            <a:r>
              <a:rPr lang="en-US" sz="2800" dirty="0"/>
              <a:t>→ Improper handling can make evidence invalid in court.</a:t>
            </a:r>
          </a:p>
          <a:p>
            <a:pPr lvl="0"/>
            <a:r>
              <a:rPr lang="en-US" sz="2800" b="1" dirty="0"/>
              <a:t>Chain of custody important</a:t>
            </a:r>
            <a:br>
              <a:rPr lang="en-US" sz="2800" dirty="0"/>
            </a:br>
            <a:r>
              <a:rPr lang="en-US" sz="2800" dirty="0"/>
              <a:t>→ Tracks evidence handling to ensure integrity.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C035C-814A-E5D0-2D44-8F1D5435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53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38F8-5217-CCC1-59C4-088EAB2BB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D5FD-105A-BA52-5888-D247C6DD6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06429" cy="1400530"/>
          </a:xfrm>
        </p:spPr>
        <p:txBody>
          <a:bodyPr/>
          <a:lstStyle/>
          <a:p>
            <a:r>
              <a:rPr lang="en-US" b="1" dirty="0"/>
              <a:t>🔐 </a:t>
            </a:r>
            <a:r>
              <a:rPr lang="en-US" sz="4000" b="1" dirty="0"/>
              <a:t>Key Offences under PECA (with Punishment &amp; Court)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72593-5989-4518-8FB4-22461DD0A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853248"/>
            <a:ext cx="11126789" cy="5004752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/>
              <a:t>1. Unauthorized Access to Information System</a:t>
            </a:r>
          </a:p>
          <a:p>
            <a:r>
              <a:rPr lang="en-US" sz="2800" b="1" dirty="0"/>
              <a:t>Definition:</a:t>
            </a:r>
            <a:br>
              <a:rPr lang="en-US" sz="2800" dirty="0"/>
            </a:br>
            <a:r>
              <a:rPr lang="en-US" sz="2800" dirty="0"/>
              <a:t>Illegal entry into any computer system, network, or device without permission. This includes bypassing login credentials or exploiting vulnerabilities.</a:t>
            </a:r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A student hacking into a university portal to change grades.</a:t>
            </a:r>
          </a:p>
          <a:p>
            <a:r>
              <a:rPr lang="en-US" sz="2800" b="1" dirty="0"/>
              <a:t>Penalty (PECA Section 3):</a:t>
            </a:r>
            <a:endParaRPr lang="en-US" sz="2800" dirty="0"/>
          </a:p>
          <a:p>
            <a:pPr lvl="1"/>
            <a:r>
              <a:rPr lang="en-US" sz="2800" dirty="0"/>
              <a:t>Up to </a:t>
            </a:r>
            <a:r>
              <a:rPr lang="en-US" sz="2800" b="1" dirty="0"/>
              <a:t>3 months imprisonment</a:t>
            </a:r>
            <a:r>
              <a:rPr lang="en-US" sz="2800" dirty="0"/>
              <a:t> OR</a:t>
            </a:r>
          </a:p>
          <a:p>
            <a:pPr lvl="1"/>
            <a:r>
              <a:rPr lang="en-US" sz="2800" dirty="0"/>
              <a:t>Fine up to </a:t>
            </a:r>
            <a:r>
              <a:rPr lang="en-US" sz="2800" b="1" dirty="0"/>
              <a:t>PKR 50,000</a:t>
            </a:r>
            <a:r>
              <a:rPr lang="en-US" sz="2800" dirty="0"/>
              <a:t> OR both</a:t>
            </a:r>
          </a:p>
          <a:p>
            <a:r>
              <a:rPr lang="en-US" sz="2800" b="1" dirty="0"/>
              <a:t>Court:</a:t>
            </a:r>
            <a:endParaRPr lang="en-US" sz="2800" dirty="0"/>
          </a:p>
          <a:p>
            <a:pPr lvl="1"/>
            <a:r>
              <a:rPr lang="en-US" sz="2800" dirty="0"/>
              <a:t>Tried in </a:t>
            </a:r>
            <a:r>
              <a:rPr lang="en-US" sz="2800" b="1" dirty="0"/>
              <a:t>Cyber Crime Courts</a:t>
            </a:r>
            <a:r>
              <a:rPr lang="en-US" sz="2800" dirty="0"/>
              <a:t> (designated by Federal Government)</a:t>
            </a:r>
          </a:p>
          <a:p>
            <a:pPr lvl="1"/>
            <a:r>
              <a:rPr lang="en-US" sz="2800" dirty="0"/>
              <a:t>Investigated by </a:t>
            </a:r>
            <a:r>
              <a:rPr lang="en-US" sz="2800" b="1" dirty="0"/>
              <a:t>Federal Investigation Agency Cyber Crime Wing</a:t>
            </a:r>
            <a:endParaRPr lang="en-US" sz="2800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B1D1E-896A-FF75-AB78-FBF89AB8A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82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3D959-654C-1E45-3020-46DBCFE79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7B1F2-8B53-5862-A849-52FB361F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06429" cy="1400530"/>
          </a:xfrm>
        </p:spPr>
        <p:txBody>
          <a:bodyPr/>
          <a:lstStyle/>
          <a:p>
            <a:r>
              <a:rPr lang="en-US" b="1" dirty="0"/>
              <a:t>🔐 </a:t>
            </a:r>
            <a:r>
              <a:rPr lang="en-US" sz="4000" b="1" dirty="0"/>
              <a:t>Key Offences under PECA (with Punishment &amp; Court)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EF2C0-E72F-5F8C-3208-4E5C36CB2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2023255"/>
            <a:ext cx="11126789" cy="50047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2. Unauthorized Copying / Transmission of Data</a:t>
            </a:r>
          </a:p>
          <a:p>
            <a:pPr marL="0" indent="0">
              <a:buNone/>
            </a:pPr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Copying, downloading, or sharing data without authorization from any system.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Downloading confidential company data and sharing it externally.</a:t>
            </a:r>
          </a:p>
          <a:p>
            <a:pPr marL="0" indent="0">
              <a:buNone/>
            </a:pPr>
            <a:r>
              <a:rPr lang="en-US" sz="2400" b="1" dirty="0"/>
              <a:t>Penalty (Section 4):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Up to </a:t>
            </a:r>
            <a:r>
              <a:rPr lang="en-US" sz="2400" b="1" dirty="0"/>
              <a:t>6 months imprisonment</a:t>
            </a:r>
            <a:r>
              <a:rPr lang="en-US" sz="2400" dirty="0"/>
              <a:t> OR</a:t>
            </a:r>
          </a:p>
          <a:p>
            <a:pPr marL="457200" lvl="1" indent="0">
              <a:buNone/>
            </a:pPr>
            <a:r>
              <a:rPr lang="en-US" sz="2400" dirty="0"/>
              <a:t>Fine up to </a:t>
            </a:r>
            <a:r>
              <a:rPr lang="en-US" sz="2400" b="1" dirty="0"/>
              <a:t>PKR 100,000</a:t>
            </a:r>
            <a:r>
              <a:rPr lang="en-US" sz="2400" dirty="0"/>
              <a:t> OR both</a:t>
            </a:r>
          </a:p>
          <a:p>
            <a:pPr marL="0" indent="0">
              <a:buNone/>
            </a:pPr>
            <a:r>
              <a:rPr lang="en-US" sz="2400" b="1" dirty="0"/>
              <a:t>Court: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Cyber Crime Court (Special Court under PECA)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B3B99-A49C-33DE-5850-2F12796F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75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C706D-88C1-9AFB-7074-E6537D6B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16FA-E1DF-4D97-D2D5-B0AE3449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06429" cy="1400530"/>
          </a:xfrm>
        </p:spPr>
        <p:txBody>
          <a:bodyPr/>
          <a:lstStyle/>
          <a:p>
            <a:r>
              <a:rPr lang="en-US" b="1" dirty="0"/>
              <a:t>🔐 </a:t>
            </a:r>
            <a:r>
              <a:rPr lang="en-US" sz="4000" b="1" dirty="0"/>
              <a:t>Key Offences under PECA (with Punishment &amp; Court)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C7FF7-0F8E-A1D3-7430-483EF1358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853248"/>
            <a:ext cx="11126789" cy="5004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3. Data Damage (Interference with Information System/Data)</a:t>
            </a:r>
          </a:p>
          <a:p>
            <a:pPr marL="0" indent="0">
              <a:buNone/>
            </a:pPr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Altering, deleting, damaging, or suppressing data or system functionality.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Deleting company databases or introducing malware.</a:t>
            </a:r>
          </a:p>
          <a:p>
            <a:pPr marL="0" indent="0">
              <a:buNone/>
            </a:pPr>
            <a:r>
              <a:rPr lang="en-US" sz="2400" b="1" dirty="0"/>
              <a:t>Penalty (Section 5):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Up to </a:t>
            </a:r>
            <a:r>
              <a:rPr lang="en-US" sz="2400" b="1" dirty="0"/>
              <a:t>2 years imprisonment</a:t>
            </a:r>
            <a:r>
              <a:rPr lang="en-US" sz="2400" dirty="0"/>
              <a:t> OR</a:t>
            </a:r>
          </a:p>
          <a:p>
            <a:pPr marL="457200" lvl="1" indent="0">
              <a:buNone/>
            </a:pPr>
            <a:r>
              <a:rPr lang="en-US" sz="2400" dirty="0"/>
              <a:t>Fine up to </a:t>
            </a:r>
            <a:r>
              <a:rPr lang="en-US" sz="2400" b="1" dirty="0"/>
              <a:t>PKR 500,000</a:t>
            </a:r>
            <a:r>
              <a:rPr lang="en-US" sz="2400" dirty="0"/>
              <a:t> OR both</a:t>
            </a:r>
          </a:p>
          <a:p>
            <a:pPr marL="0" indent="0">
              <a:buNone/>
            </a:pPr>
            <a:r>
              <a:rPr lang="en-US" sz="2400" b="1" dirty="0"/>
              <a:t>Court: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Cyber Crime Court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5717E-34AF-AEBB-AE32-A0A1C316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78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A77A-D6A3-9DA8-4D0E-5662B204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E0302-3C2C-E3BC-7264-E9D14C849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06429" cy="1400530"/>
          </a:xfrm>
        </p:spPr>
        <p:txBody>
          <a:bodyPr/>
          <a:lstStyle/>
          <a:p>
            <a:r>
              <a:rPr lang="en-US" b="1" dirty="0"/>
              <a:t>🔐 </a:t>
            </a:r>
            <a:r>
              <a:rPr lang="en-US" sz="4000" b="1" dirty="0"/>
              <a:t>Key Offences under PECA (with Punishment &amp; Court)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4E1D4-A9E3-A0D7-E5C6-1DDC9B208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853248"/>
            <a:ext cx="11126789" cy="5004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3. Data Damage (Interference with Information System/Data)</a:t>
            </a:r>
          </a:p>
          <a:p>
            <a:pPr marL="0" indent="0">
              <a:buNone/>
            </a:pPr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Altering, deleting, damaging, or suppressing data or system functionality.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Deleting company databases or introducing malware.</a:t>
            </a:r>
          </a:p>
          <a:p>
            <a:pPr marL="0" indent="0">
              <a:buNone/>
            </a:pPr>
            <a:r>
              <a:rPr lang="en-US" sz="2400" b="1" dirty="0"/>
              <a:t>Penalty (Section 5):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Up to </a:t>
            </a:r>
            <a:r>
              <a:rPr lang="en-US" sz="2400" b="1" dirty="0"/>
              <a:t>2 years imprisonment</a:t>
            </a:r>
            <a:r>
              <a:rPr lang="en-US" sz="2400" dirty="0"/>
              <a:t> OR</a:t>
            </a:r>
          </a:p>
          <a:p>
            <a:pPr marL="457200" lvl="1" indent="0">
              <a:buNone/>
            </a:pPr>
            <a:r>
              <a:rPr lang="en-US" sz="2400" dirty="0"/>
              <a:t>Fine up to </a:t>
            </a:r>
            <a:r>
              <a:rPr lang="en-US" sz="2400" b="1" dirty="0"/>
              <a:t>PKR 500,000</a:t>
            </a:r>
            <a:r>
              <a:rPr lang="en-US" sz="2400" dirty="0"/>
              <a:t> OR both</a:t>
            </a:r>
          </a:p>
          <a:p>
            <a:pPr marL="0" indent="0">
              <a:buNone/>
            </a:pPr>
            <a:r>
              <a:rPr lang="en-US" sz="2400" b="1" dirty="0"/>
              <a:t>Court: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Cyber Crime Court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ABE48-95DF-F057-1499-A55B36694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40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2FF46-13F4-4FBE-A87B-D2BC8BD61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63B82-AACB-CB4A-2B3C-93582F84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06429" cy="1400530"/>
          </a:xfrm>
        </p:spPr>
        <p:txBody>
          <a:bodyPr/>
          <a:lstStyle/>
          <a:p>
            <a:r>
              <a:rPr lang="en-US" b="1" dirty="0"/>
              <a:t>🔐 </a:t>
            </a:r>
            <a:r>
              <a:rPr lang="en-US" sz="4000" b="1" dirty="0"/>
              <a:t>Key Offences under PECA (with Punishment &amp; Court)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9312C-23DE-E9F3-5C5E-3AABD7902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853248"/>
            <a:ext cx="11126789" cy="5004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4. System Damage / Unauthorized Interference</a:t>
            </a:r>
          </a:p>
          <a:p>
            <a:pPr marL="0" indent="0">
              <a:buNone/>
            </a:pPr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Causing disruption to system operations (e.g., DDoS attacks, crashing servers).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Taking down a website through traffic flooding.</a:t>
            </a:r>
          </a:p>
          <a:p>
            <a:pPr marL="0" indent="0">
              <a:buNone/>
            </a:pPr>
            <a:r>
              <a:rPr lang="en-US" sz="2400" b="1" dirty="0"/>
              <a:t>Penalty (Section 6):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Up to </a:t>
            </a:r>
            <a:r>
              <a:rPr lang="en-US" sz="2400" b="1" dirty="0"/>
              <a:t>2 years imprisonment</a:t>
            </a:r>
            <a:r>
              <a:rPr lang="en-US" sz="2400" dirty="0"/>
              <a:t> OR</a:t>
            </a:r>
          </a:p>
          <a:p>
            <a:pPr marL="457200" lvl="1" indent="0">
              <a:buNone/>
            </a:pPr>
            <a:r>
              <a:rPr lang="en-US" sz="2400" dirty="0"/>
              <a:t>Fine up to </a:t>
            </a:r>
            <a:r>
              <a:rPr lang="en-US" sz="2400" b="1" dirty="0"/>
              <a:t>PKR 500,000</a:t>
            </a:r>
            <a:r>
              <a:rPr lang="en-US" sz="2400" dirty="0"/>
              <a:t> OR both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A2A58-8987-3A12-9E12-10B68BB9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43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BC45-8D1F-34F4-DDDC-F8B407C75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9BBE-7BD9-F73A-0ED5-16ABF362E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06429" cy="1400530"/>
          </a:xfrm>
        </p:spPr>
        <p:txBody>
          <a:bodyPr/>
          <a:lstStyle/>
          <a:p>
            <a:r>
              <a:rPr lang="en-US" b="1" dirty="0"/>
              <a:t>🔐 </a:t>
            </a:r>
            <a:r>
              <a:rPr lang="en-US" sz="4000" b="1" dirty="0"/>
              <a:t>Key Offences under PECA (with Punishment &amp; Court)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181D9-D6E3-E10A-7ED6-20DF19E62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853248"/>
            <a:ext cx="11126789" cy="50047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5. Cyber Terrorism</a:t>
            </a:r>
          </a:p>
          <a:p>
            <a:pPr marL="0" indent="0">
              <a:buNone/>
            </a:pPr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Use of cyber tools to create fear, disrupt national infrastructure, or threaten national security.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Attacking power grids, government databases, or military systems.</a:t>
            </a:r>
          </a:p>
          <a:p>
            <a:pPr marL="0" indent="0">
              <a:buNone/>
            </a:pPr>
            <a:r>
              <a:rPr lang="en-US" sz="2400" b="1" dirty="0"/>
              <a:t>Penalty (Section 10):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Up to </a:t>
            </a:r>
            <a:r>
              <a:rPr lang="en-US" sz="2400" b="1" dirty="0"/>
              <a:t>14 years imprisonment</a:t>
            </a:r>
            <a:r>
              <a:rPr lang="en-US" sz="2400" dirty="0"/>
              <a:t> AND/OR</a:t>
            </a:r>
          </a:p>
          <a:p>
            <a:pPr marL="457200" lvl="1" indent="0">
              <a:buNone/>
            </a:pPr>
            <a:r>
              <a:rPr lang="en-US" sz="2400" dirty="0"/>
              <a:t>Fine up to </a:t>
            </a:r>
            <a:r>
              <a:rPr lang="en-US" sz="2400" b="1" dirty="0"/>
              <a:t>PKR 50 million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Court: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High-priority cases handled by </a:t>
            </a:r>
            <a:r>
              <a:rPr lang="en-US" sz="2400" b="1" dirty="0"/>
              <a:t>Special Cyber Terrorism Courts</a:t>
            </a:r>
            <a:endParaRPr lang="en-US" sz="2400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092B3-A798-D84C-81F4-82EED9063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76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75034-BF61-8C2E-1A62-9D5B66312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BACCC-A239-88CE-5F47-569112514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06429" cy="1400530"/>
          </a:xfrm>
        </p:spPr>
        <p:txBody>
          <a:bodyPr/>
          <a:lstStyle/>
          <a:p>
            <a:r>
              <a:rPr lang="en-US" b="1" dirty="0"/>
              <a:t>🔐 </a:t>
            </a:r>
            <a:r>
              <a:rPr lang="en-US" sz="4000" b="1" dirty="0"/>
              <a:t>Key Offences under PECA (with Punishment &amp; Court)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90D8D-46CC-52F7-109C-7A1F957CA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853248"/>
            <a:ext cx="11126789" cy="5004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⚖️ Jurisdiction &amp; Legal Process</a:t>
            </a:r>
          </a:p>
          <a:p>
            <a:pPr marL="0" indent="0">
              <a:buNone/>
            </a:pPr>
            <a:r>
              <a:rPr lang="en-US" sz="2400" b="1" dirty="0"/>
              <a:t>Investigation Authority:</a:t>
            </a:r>
            <a:br>
              <a:rPr lang="en-US" sz="2400" dirty="0"/>
            </a:br>
            <a:r>
              <a:rPr lang="en-US" sz="2400" dirty="0"/>
              <a:t>→ Federal Investigation Agency (FIA Cyber Crime Wing)</a:t>
            </a:r>
          </a:p>
          <a:p>
            <a:pPr marL="0" indent="0">
              <a:buNone/>
            </a:pPr>
            <a:r>
              <a:rPr lang="en-US" sz="2400" b="1" dirty="0"/>
              <a:t>Trial Court:</a:t>
            </a:r>
            <a:br>
              <a:rPr lang="en-US" sz="2400" dirty="0"/>
            </a:br>
            <a:r>
              <a:rPr lang="en-US" sz="2400" dirty="0"/>
              <a:t>→ Designated </a:t>
            </a:r>
            <a:r>
              <a:rPr lang="en-US" sz="2400" b="1" dirty="0"/>
              <a:t>Cyber Crime Courts</a:t>
            </a:r>
            <a:r>
              <a:rPr lang="en-US" sz="2400" dirty="0"/>
              <a:t> under PECA</a:t>
            </a:r>
          </a:p>
          <a:p>
            <a:pPr marL="0" indent="0">
              <a:buNone/>
            </a:pPr>
            <a:r>
              <a:rPr lang="en-US" sz="2400" b="1" dirty="0"/>
              <a:t>Appeal:</a:t>
            </a:r>
            <a:br>
              <a:rPr lang="en-US" sz="2400" dirty="0"/>
            </a:br>
            <a:r>
              <a:rPr lang="en-US" sz="2400" dirty="0"/>
              <a:t>→ High Court</a:t>
            </a:r>
          </a:p>
          <a:p>
            <a:pPr marL="0" indent="0">
              <a:buNone/>
            </a:pPr>
            <a:r>
              <a:rPr lang="en-US" sz="2400" b="1" dirty="0"/>
              <a:t>Digital Evidence:</a:t>
            </a:r>
            <a:br>
              <a:rPr lang="en-US" sz="2400" dirty="0"/>
            </a:br>
            <a:r>
              <a:rPr lang="en-US" sz="2400" dirty="0"/>
              <a:t>→ Must follow </a:t>
            </a:r>
            <a:r>
              <a:rPr lang="en-US" sz="2400" b="1" dirty="0"/>
              <a:t>chain of custody</a:t>
            </a:r>
            <a:r>
              <a:rPr lang="en-US" sz="2400" dirty="0"/>
              <a:t> to be admissible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B90A7-E8CF-F99B-C077-E50BC3F7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79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195B1-2CC1-0AD1-5C07-42BE5D828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Digital Forensics Process</a:t>
            </a:r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1A0B8F4E-7A84-61A8-0D7D-2A2170A42831}"/>
              </a:ext>
            </a:extLst>
          </p:cNvPr>
          <p:cNvSpPr/>
          <p:nvPr/>
        </p:nvSpPr>
        <p:spPr>
          <a:xfrm>
            <a:off x="838200" y="2540000"/>
            <a:ext cx="2664460" cy="762000"/>
          </a:xfrm>
          <a:prstGeom prst="chevron">
            <a:avLst/>
          </a:prstGeom>
          <a:solidFill>
            <a:srgbClr val="0099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Collect</a:t>
            </a: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AF9FD435-F033-A498-58DF-62EBD4AAA4A7}"/>
              </a:ext>
            </a:extLst>
          </p:cNvPr>
          <p:cNvSpPr/>
          <p:nvPr/>
        </p:nvSpPr>
        <p:spPr>
          <a:xfrm>
            <a:off x="3803650" y="2540000"/>
            <a:ext cx="2664460" cy="762000"/>
          </a:xfrm>
          <a:prstGeom prst="chevron">
            <a:avLst/>
          </a:prstGeom>
          <a:solidFill>
            <a:srgbClr val="0099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Preserve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A4293759-2A8D-3FD5-F232-D064AD02221C}"/>
              </a:ext>
            </a:extLst>
          </p:cNvPr>
          <p:cNvSpPr/>
          <p:nvPr/>
        </p:nvSpPr>
        <p:spPr>
          <a:xfrm>
            <a:off x="6602730" y="2540000"/>
            <a:ext cx="2664460" cy="762000"/>
          </a:xfrm>
          <a:prstGeom prst="chevron">
            <a:avLst/>
          </a:prstGeom>
          <a:solidFill>
            <a:srgbClr val="0099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Analyze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91726C01-5102-F682-FD4F-9C6AD8DF2E0C}"/>
              </a:ext>
            </a:extLst>
          </p:cNvPr>
          <p:cNvSpPr/>
          <p:nvPr/>
        </p:nvSpPr>
        <p:spPr>
          <a:xfrm>
            <a:off x="9267190" y="2540000"/>
            <a:ext cx="2664460" cy="762000"/>
          </a:xfrm>
          <a:prstGeom prst="chevron">
            <a:avLst/>
          </a:prstGeom>
          <a:solidFill>
            <a:srgbClr val="0099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Present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C40BF-CBEE-4E67-6909-4237119E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62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5B15-557B-3D6C-50DE-7A9B6E18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Digital Forensics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B2E0D-7DCA-C7C3-3024-2814B45D8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1645920"/>
            <a:ext cx="9983788" cy="4602479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Collection</a:t>
            </a:r>
            <a:br>
              <a:rPr lang="en-US" sz="2800" dirty="0"/>
            </a:br>
            <a:r>
              <a:rPr lang="en-US" sz="2800" dirty="0"/>
              <a:t>→ Gathering relevant digital evidence from systems.</a:t>
            </a:r>
          </a:p>
          <a:p>
            <a:pPr lvl="0"/>
            <a:r>
              <a:rPr lang="en-US" sz="2800" dirty="0"/>
              <a:t>Preservation</a:t>
            </a:r>
            <a:br>
              <a:rPr lang="en-US" sz="2800" dirty="0"/>
            </a:br>
            <a:r>
              <a:rPr lang="en-US" sz="2800" dirty="0"/>
              <a:t>→ Ensuring data is not altered or damaged.</a:t>
            </a:r>
          </a:p>
          <a:p>
            <a:pPr lvl="0"/>
            <a:r>
              <a:rPr lang="en-US" sz="2800" dirty="0"/>
              <a:t>Analysis</a:t>
            </a:r>
            <a:br>
              <a:rPr lang="en-US" sz="2800" dirty="0"/>
            </a:br>
            <a:r>
              <a:rPr lang="en-US" sz="2800" dirty="0"/>
              <a:t>→ Examining evidence to identify attack details.</a:t>
            </a:r>
          </a:p>
          <a:p>
            <a:pPr lvl="0"/>
            <a:r>
              <a:rPr lang="en-US" sz="2800" dirty="0"/>
              <a:t>Presentation</a:t>
            </a:r>
            <a:br>
              <a:rPr lang="en-US" sz="2800" dirty="0"/>
            </a:br>
            <a:r>
              <a:rPr lang="en-US" sz="2800" dirty="0"/>
              <a:t>→ Reporting findings in legal proceedings.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139F-CB77-5D72-83DA-A2EDA045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497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485F7-0BA1-818B-9205-AC2FF740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3FBB-5F05-2C84-21FE-3899CA38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Compliance and Standards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72479-A51C-BED8-E7AD-D744345F9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10087427" cy="4195481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ISO 27001</a:t>
            </a:r>
            <a:br>
              <a:rPr lang="en-US" sz="2800" dirty="0"/>
            </a:br>
            <a:r>
              <a:rPr lang="en-US" sz="2800" dirty="0"/>
              <a:t>→ Provides framework for information security management.</a:t>
            </a:r>
          </a:p>
          <a:p>
            <a:pPr lvl="0"/>
            <a:r>
              <a:rPr lang="en-US" sz="2800" dirty="0"/>
              <a:t>NIST Framework</a:t>
            </a:r>
            <a:br>
              <a:rPr lang="en-US" sz="2800" dirty="0"/>
            </a:br>
            <a:r>
              <a:rPr lang="en-US" sz="2800" dirty="0"/>
              <a:t>→ Helps manage and reduce cybersecurity risk.</a:t>
            </a:r>
          </a:p>
          <a:p>
            <a:pPr lvl="0"/>
            <a:r>
              <a:rPr lang="en-US" sz="2800" dirty="0"/>
              <a:t>Example: Companies follow standards for security</a:t>
            </a:r>
            <a:br>
              <a:rPr lang="en-US" sz="2800" dirty="0"/>
            </a:br>
            <a:r>
              <a:rPr lang="en-US" sz="2800" dirty="0"/>
              <a:t>→ Ensures best practices are implemented.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AC0D2-4630-690B-83C2-E9E7C0BE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10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6E7B8-AF4C-C27B-A981-768DFAEF5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1B2C6-8CB7-E1D2-04D7-E1DA4778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Privacy Laws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E1667-84CC-7F37-4832-0F3C3045A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10087427" cy="4195481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Protect personal data</a:t>
            </a:r>
            <a:br>
              <a:rPr lang="en-US" sz="2800" dirty="0"/>
            </a:br>
            <a:r>
              <a:rPr lang="en-US" sz="2800" dirty="0"/>
              <a:t>→ Safeguards user information from misuse.</a:t>
            </a:r>
          </a:p>
          <a:p>
            <a:pPr lvl="0"/>
            <a:r>
              <a:rPr lang="en-US" sz="2800" dirty="0"/>
              <a:t>Require user consent</a:t>
            </a:r>
            <a:br>
              <a:rPr lang="en-US" sz="2800" dirty="0"/>
            </a:br>
            <a:r>
              <a:rPr lang="en-US" sz="2800" dirty="0"/>
              <a:t>→ Organizations must inform users before collecting data.</a:t>
            </a:r>
          </a:p>
          <a:p>
            <a:pPr lvl="0"/>
            <a:r>
              <a:rPr lang="en-US" sz="2800" dirty="0"/>
              <a:t>Example: Websites asking for cookie permission</a:t>
            </a:r>
            <a:br>
              <a:rPr lang="en-US" sz="2800" dirty="0"/>
            </a:br>
            <a:r>
              <a:rPr lang="en-US" sz="2800" dirty="0"/>
              <a:t>→ Demonstrates transparency and compliance.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9ACDE-81A9-1D4C-3CB1-BE5661B3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011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6E52D-9279-752B-E78A-6A5B1BBA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0EFD-3A37-1C13-1F4B-ECFDA714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Ethical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2FD74-1136-BD54-B164-3A366FFC5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9766618" cy="4195481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Doing what is right</a:t>
            </a:r>
            <a:br>
              <a:rPr lang="en-US" sz="2800" dirty="0"/>
            </a:br>
            <a:r>
              <a:rPr lang="en-US" sz="2800" dirty="0"/>
              <a:t>→ Ethics guide actions beyond legal requirements.</a:t>
            </a:r>
          </a:p>
          <a:p>
            <a:pPr lvl="0"/>
            <a:r>
              <a:rPr lang="en-US" sz="2800" dirty="0"/>
              <a:t>Respect privacy</a:t>
            </a:r>
            <a:br>
              <a:rPr lang="en-US" sz="2800" dirty="0"/>
            </a:br>
            <a:r>
              <a:rPr lang="en-US" sz="2800" dirty="0"/>
              <a:t>→ Avoid unauthorized access to personal data.</a:t>
            </a:r>
          </a:p>
          <a:p>
            <a:pPr lvl="0"/>
            <a:r>
              <a:rPr lang="en-US" sz="2800" dirty="0"/>
              <a:t>Avoid harm</a:t>
            </a:r>
            <a:br>
              <a:rPr lang="en-US" sz="2800" dirty="0"/>
            </a:br>
            <a:r>
              <a:rPr lang="en-US" sz="2800" dirty="0"/>
              <a:t>→ Ensure actions do not negatively impact others.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93F75-0A09-6F0C-87F1-AFCF6235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109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8D94-C0F3-5838-A154-A0E1A659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Ethical Frameworks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81F6C-E4B5-FACA-A7E1-252799A2A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470" y="2052918"/>
            <a:ext cx="10859269" cy="4509353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(ISC)²</a:t>
            </a:r>
            <a:br>
              <a:rPr lang="en-US" sz="2800" dirty="0"/>
            </a:br>
            <a:r>
              <a:rPr lang="en-US" sz="2800" dirty="0"/>
              <a:t>→ Emphasizes protecting society and acting honorably.</a:t>
            </a:r>
          </a:p>
          <a:p>
            <a:pPr lvl="0"/>
            <a:r>
              <a:rPr lang="en-US" sz="2800" dirty="0"/>
              <a:t>ACM</a:t>
            </a:r>
            <a:br>
              <a:rPr lang="en-US" sz="2800" dirty="0"/>
            </a:br>
            <a:r>
              <a:rPr lang="en-US" sz="2800" dirty="0"/>
              <a:t>→ Focuses on avoiding harm and respecting privacy.</a:t>
            </a:r>
          </a:p>
          <a:p>
            <a:pPr lvl="0"/>
            <a:r>
              <a:rPr lang="en-US" sz="2800" dirty="0"/>
              <a:t>ISACA</a:t>
            </a:r>
            <a:br>
              <a:rPr lang="en-US" sz="2800" dirty="0"/>
            </a:br>
            <a:r>
              <a:rPr lang="en-US" sz="2800" dirty="0"/>
              <a:t>→ Encourages due diligence and legal compliance.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9D39D-0159-AE85-C266-6DA3D027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49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5B393-C8A9-3C37-58A8-C9DDE02D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4306-0734-31BF-8931-60C547803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Ethical Hacking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BBAB2-BA07-441F-66B3-C08B51CD1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470" y="2052918"/>
            <a:ext cx="10859269" cy="4195481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Legal hacking with permission</a:t>
            </a:r>
            <a:br>
              <a:rPr lang="en-US" sz="2800" dirty="0"/>
            </a:br>
            <a:r>
              <a:rPr lang="en-US" sz="2800" dirty="0"/>
              <a:t>→ Conducted with authorization to test security systems.</a:t>
            </a:r>
          </a:p>
          <a:p>
            <a:pPr lvl="0"/>
            <a:r>
              <a:rPr lang="en-US" sz="2800" dirty="0"/>
              <a:t>Helps improve security</a:t>
            </a:r>
            <a:br>
              <a:rPr lang="en-US" sz="2800" dirty="0"/>
            </a:br>
            <a:r>
              <a:rPr lang="en-US" sz="2800" dirty="0"/>
              <a:t>→ Identifies vulnerabilities before attackers exploit them.</a:t>
            </a:r>
          </a:p>
          <a:p>
            <a:pPr lvl="0"/>
            <a:r>
              <a:rPr lang="en-US" sz="2800" dirty="0"/>
              <a:t>Example: Penetration testing</a:t>
            </a:r>
            <a:br>
              <a:rPr lang="en-US" sz="2800" dirty="0"/>
            </a:br>
            <a:r>
              <a:rPr lang="en-US" sz="2800" dirty="0"/>
              <a:t>→ Simulates real attacks to strengthen defenses.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AF672-720C-A2ED-6A7E-5211BE6E0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79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91F20-C880-384B-335C-B464FA8F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24D0-440E-43B5-D909-608AD7EF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Ethical Hacking Debate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5E154-CD22-DBF6-C062-6600903C4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470" y="2052918"/>
            <a:ext cx="11727180" cy="4195481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Morally gray area</a:t>
            </a:r>
            <a:br>
              <a:rPr lang="en-US" sz="2800" dirty="0"/>
            </a:br>
            <a:r>
              <a:rPr lang="en-US" sz="2800" dirty="0"/>
              <a:t>→ Some actions resemble illegal hacking but serve good purposes.</a:t>
            </a:r>
          </a:p>
          <a:p>
            <a:pPr lvl="0"/>
            <a:r>
              <a:rPr lang="en-US" sz="2800" dirty="0"/>
              <a:t>Intent vs action</a:t>
            </a:r>
            <a:br>
              <a:rPr lang="en-US" sz="2800" dirty="0"/>
            </a:br>
            <a:r>
              <a:rPr lang="en-US" sz="2800" dirty="0"/>
              <a:t>→ Good intent does not justify illegal activity.</a:t>
            </a:r>
          </a:p>
          <a:p>
            <a:pPr lvl="0"/>
            <a:r>
              <a:rPr lang="en-US" sz="2800" dirty="0"/>
              <a:t>Legal approval required</a:t>
            </a:r>
            <a:br>
              <a:rPr lang="en-US" sz="2800" dirty="0"/>
            </a:br>
            <a:r>
              <a:rPr lang="en-US" sz="2800" dirty="0"/>
              <a:t>→ Permission is essential to remain lawful.</a:t>
            </a:r>
          </a:p>
          <a:p>
            <a:pPr marL="0" lvl="0" indent="0">
              <a:buNone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89C0D-C21C-FD8C-2FDB-9B34F874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6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58DA1-21B3-C097-9956-B9BCA46E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Studies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B593D-75AA-26E0-FA39-240ECB127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952" y="2052918"/>
            <a:ext cx="10875328" cy="4195481"/>
          </a:xfrm>
        </p:spPr>
        <p:txBody>
          <a:bodyPr/>
          <a:lstStyle/>
          <a:p>
            <a:pPr lvl="0"/>
            <a:r>
              <a:rPr lang="en-US" sz="2800" dirty="0"/>
              <a:t>Facebook &amp; Cambridge Analytica</a:t>
            </a:r>
            <a:br>
              <a:rPr lang="en-US" sz="2800" dirty="0"/>
            </a:br>
            <a:r>
              <a:rPr lang="en-US" sz="2800" dirty="0"/>
              <a:t>→ User data was misused without proper consent.</a:t>
            </a:r>
          </a:p>
          <a:p>
            <a:pPr lvl="0"/>
            <a:r>
              <a:rPr lang="en-US" sz="2800" dirty="0"/>
              <a:t>Data misuse for political ads</a:t>
            </a:r>
            <a:br>
              <a:rPr lang="en-US" sz="2800" dirty="0"/>
            </a:br>
            <a:r>
              <a:rPr lang="en-US" sz="2800" dirty="0"/>
              <a:t>→ Influenced voter behavior using targeted campaigns.</a:t>
            </a:r>
          </a:p>
          <a:p>
            <a:pPr lvl="0"/>
            <a:r>
              <a:rPr lang="en-US" sz="2800" dirty="0"/>
              <a:t>Lesson: Importance of data privacy</a:t>
            </a:r>
            <a:br>
              <a:rPr lang="en-US" sz="2800" dirty="0"/>
            </a:br>
            <a:r>
              <a:rPr lang="en-US" sz="2800" dirty="0"/>
              <a:t>→ Highlights need for strict data protection laws.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30C39-D417-77B2-58F1-76A08695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161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EBF2-75A3-6B26-933C-7144A548E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0F51-183F-1492-ACA4-1CB4AD501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Studies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DD76E-5036-763C-086A-53A1CE8AC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952" y="2052918"/>
            <a:ext cx="10875328" cy="4195481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Banking phishing scams</a:t>
            </a:r>
            <a:br>
              <a:rPr lang="en-US" sz="2800" dirty="0"/>
            </a:br>
            <a:r>
              <a:rPr lang="en-US" sz="2800" dirty="0"/>
              <a:t>→ Users receive fake SMS or emails.</a:t>
            </a:r>
          </a:p>
          <a:p>
            <a:pPr lvl="0"/>
            <a:r>
              <a:rPr lang="en-US" sz="2800" dirty="0"/>
              <a:t>Fake links used</a:t>
            </a:r>
            <a:br>
              <a:rPr lang="en-US" sz="2800" dirty="0"/>
            </a:br>
            <a:r>
              <a:rPr lang="en-US" sz="2800" dirty="0"/>
              <a:t>→ Direct victims to fraudulent websites.</a:t>
            </a:r>
          </a:p>
          <a:p>
            <a:r>
              <a:rPr lang="en-US" sz="2800" dirty="0"/>
              <a:t>Lesson: User awareness is key</a:t>
            </a:r>
            <a:br>
              <a:rPr lang="en-US" sz="2800" dirty="0"/>
            </a:br>
            <a:r>
              <a:rPr lang="en-US" sz="2800" dirty="0"/>
              <a:t>→ Education reduces risk of falling victim.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EAECF-9CCA-392D-80B5-5FE7E889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412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302B0-C897-45E8-B21F-041F9C25E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01" y="487008"/>
            <a:ext cx="10155239" cy="1400530"/>
          </a:xfrm>
        </p:spPr>
        <p:txBody>
          <a:bodyPr/>
          <a:lstStyle/>
          <a:p>
            <a:r>
              <a:rPr lang="en-US" b="1" dirty="0"/>
              <a:t>Challenges in Cyber Law Enforcement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4263F-2865-D4F6-F5EF-D955F633B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9823768" cy="4195481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Jurisdiction issues</a:t>
            </a:r>
            <a:br>
              <a:rPr lang="en-US" sz="2800" dirty="0"/>
            </a:br>
            <a:r>
              <a:rPr lang="en-US" sz="2800" dirty="0"/>
              <a:t>→ Difficult to prosecute criminals across borders.</a:t>
            </a:r>
          </a:p>
          <a:p>
            <a:pPr lvl="0"/>
            <a:r>
              <a:rPr lang="en-US" sz="2800" dirty="0"/>
              <a:t>Encryption challenges</a:t>
            </a:r>
            <a:br>
              <a:rPr lang="en-US" sz="2800" dirty="0"/>
            </a:br>
            <a:r>
              <a:rPr lang="en-US" sz="2800" dirty="0"/>
              <a:t>→ Secure communication limits investigation access.</a:t>
            </a:r>
          </a:p>
          <a:p>
            <a:pPr lvl="0"/>
            <a:r>
              <a:rPr lang="en-US" sz="2800" dirty="0"/>
              <a:t>Lack of awareness</a:t>
            </a:r>
            <a:br>
              <a:rPr lang="en-US" sz="2800" dirty="0"/>
            </a:br>
            <a:r>
              <a:rPr lang="en-US" sz="2800" dirty="0"/>
              <a:t>→ Users often unaware of legal rights and risks.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B5DF2-F745-85F0-CAD9-C355274DE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2389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8ADF-D76B-430A-4082-01455FF54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7830F-F288-02A4-C781-C2FA3EFC2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2800" dirty="0"/>
              <a:t>AI in cybercrime</a:t>
            </a:r>
            <a:br>
              <a:rPr lang="en-US" sz="2800" dirty="0"/>
            </a:br>
            <a:r>
              <a:rPr lang="en-US" sz="2800" dirty="0"/>
              <a:t>→ Attackers use AI to automate attacks.</a:t>
            </a:r>
          </a:p>
          <a:p>
            <a:pPr lvl="0"/>
            <a:r>
              <a:rPr lang="en-US" sz="2800" dirty="0"/>
              <a:t>Deepfakes</a:t>
            </a:r>
            <a:br>
              <a:rPr lang="en-US" sz="2800" dirty="0"/>
            </a:br>
            <a:r>
              <a:rPr lang="en-US" sz="2800" dirty="0"/>
              <a:t>→ Fake media used for fraud or misinformation.</a:t>
            </a:r>
          </a:p>
          <a:p>
            <a:pPr lvl="0"/>
            <a:r>
              <a:rPr lang="en-US" sz="2800" dirty="0"/>
              <a:t>Automated attacks</a:t>
            </a:r>
            <a:br>
              <a:rPr lang="en-US" sz="2800" dirty="0"/>
            </a:br>
            <a:r>
              <a:rPr lang="en-US" sz="2800" dirty="0"/>
              <a:t>→ Faster and more scalable cyber threats.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E9966-B440-1A01-EC14-96D5CF9C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299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6FB6-D359-2378-4B65-B5E8F587D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BDAFE-459A-0C2D-A376-30837975E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Awareness training</a:t>
            </a:r>
            <a:br>
              <a:rPr lang="en-US" sz="2800" dirty="0"/>
            </a:br>
            <a:r>
              <a:rPr lang="en-US" sz="2800" dirty="0"/>
              <a:t>→ Educating users reduces human errors.</a:t>
            </a:r>
          </a:p>
          <a:p>
            <a:pPr lvl="0"/>
            <a:r>
              <a:rPr lang="en-US" sz="2800" dirty="0"/>
              <a:t>Strong passwords</a:t>
            </a:r>
            <a:br>
              <a:rPr lang="en-US" sz="2800" dirty="0"/>
            </a:br>
            <a:r>
              <a:rPr lang="en-US" sz="2800" dirty="0"/>
              <a:t>→ Prevents unauthorized access.</a:t>
            </a:r>
          </a:p>
          <a:p>
            <a:r>
              <a:rPr lang="en-US" sz="2800" dirty="0"/>
              <a:t>Incident response plans</a:t>
            </a:r>
            <a:br>
              <a:rPr lang="en-US" sz="2800" dirty="0"/>
            </a:br>
            <a:r>
              <a:rPr lang="en-US" sz="2800" dirty="0"/>
              <a:t>→ Ensures quick recovery from attacks.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88FB8-576D-35D0-6F2A-1456A3BB8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525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567B0-B0F6-BCC9-ECA2-6EE7156D8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6847-B24C-6F23-9065-707DBA709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88F26-86A1-955E-C9B0-7E82EC535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10509568" cy="4195481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Should ethical hacking be fully legalized?</a:t>
            </a:r>
            <a:br>
              <a:rPr lang="en-US" sz="2800" dirty="0"/>
            </a:br>
            <a:r>
              <a:rPr lang="en-US" sz="2800" dirty="0"/>
              <a:t>→ Encourages debate on legal boundaries.</a:t>
            </a:r>
          </a:p>
          <a:p>
            <a:pPr lvl="0"/>
            <a:r>
              <a:rPr lang="en-US" sz="2800" dirty="0"/>
              <a:t>How to improve cyber laws?</a:t>
            </a:r>
            <a:br>
              <a:rPr lang="en-US" sz="2800" dirty="0"/>
            </a:br>
            <a:r>
              <a:rPr lang="en-US" sz="2800" dirty="0"/>
              <a:t>→ Promotes critical thinking on policy-making.</a:t>
            </a:r>
          </a:p>
          <a:p>
            <a:pPr lvl="0"/>
            <a:r>
              <a:rPr lang="en-US" sz="2800" dirty="0"/>
              <a:t>Encourage critical thinking</a:t>
            </a:r>
            <a:br>
              <a:rPr lang="en-US" sz="2800" dirty="0"/>
            </a:br>
            <a:r>
              <a:rPr lang="en-US" sz="2800" dirty="0"/>
              <a:t>→ Helps students develop analytical skills.</a:t>
            </a:r>
          </a:p>
          <a:p>
            <a:pPr lvl="0"/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37E87-24AD-D533-18A8-312B0443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364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9955-2FB1-4867-C20A-ABE8E5DA6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15FA6-394C-6EB3-A14D-C5CE81921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Cybercrime is increasing</a:t>
            </a:r>
            <a:br>
              <a:rPr lang="en-US" sz="2800" dirty="0"/>
            </a:br>
            <a:r>
              <a:rPr lang="en-US" sz="2800" dirty="0"/>
              <a:t>→ Growing digital usage leads to more attacks.</a:t>
            </a:r>
          </a:p>
          <a:p>
            <a:pPr lvl="0"/>
            <a:r>
              <a:rPr lang="en-US" sz="2800" dirty="0"/>
              <a:t>Laws are essential</a:t>
            </a:r>
            <a:br>
              <a:rPr lang="en-US" sz="2800" dirty="0"/>
            </a:br>
            <a:r>
              <a:rPr lang="en-US" sz="2800" dirty="0"/>
              <a:t>→ Provide structure and punishment.</a:t>
            </a:r>
          </a:p>
          <a:p>
            <a:pPr lvl="0"/>
            <a:r>
              <a:rPr lang="en-US" sz="2800" dirty="0"/>
              <a:t>Ethics guide professionals</a:t>
            </a:r>
            <a:br>
              <a:rPr lang="en-US" sz="2800" dirty="0"/>
            </a:br>
            <a:r>
              <a:rPr lang="en-US" sz="2800" dirty="0"/>
              <a:t>→ Ensure responsible cybersecurity practices.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80F40-27C2-2DDD-7923-EBC36847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672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266A4-448F-535A-AA41-F41B54CC7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F6FA5-EEC9-CE7B-9A4B-4AFCE489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B82C-5A9A-00D1-4EA6-B69FB2DAF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ISO/IEC 27001</a:t>
            </a:r>
            <a:br>
              <a:rPr lang="en-US" sz="2800" dirty="0"/>
            </a:br>
            <a:r>
              <a:rPr lang="en-US" sz="2800" dirty="0"/>
              <a:t>→ International security standard.</a:t>
            </a:r>
          </a:p>
          <a:p>
            <a:pPr lvl="0"/>
            <a:r>
              <a:rPr lang="en-US" sz="2800" dirty="0"/>
              <a:t>PECA 2016</a:t>
            </a:r>
            <a:br>
              <a:rPr lang="en-US" sz="2800" dirty="0"/>
            </a:br>
            <a:r>
              <a:rPr lang="en-US" sz="2800" dirty="0"/>
              <a:t>→ National cyber law of Pakistan.</a:t>
            </a:r>
          </a:p>
          <a:p>
            <a:pPr lvl="0"/>
            <a:r>
              <a:rPr lang="en-US" sz="2800" dirty="0"/>
              <a:t>NIST Framework</a:t>
            </a:r>
            <a:br>
              <a:rPr lang="en-US" sz="2800" dirty="0"/>
            </a:br>
            <a:r>
              <a:rPr lang="en-US" sz="2800" dirty="0"/>
              <a:t>→ Widely used cybersecurity guideline.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B1B64-C281-D878-61A3-A2E39484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DB02-73AF-4CB7-9666-665292CAA58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593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A8E662C-1018-4271-83A5-74E3953388E2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688</TotalTime>
  <Words>2498</Words>
  <Application>Microsoft Office PowerPoint</Application>
  <PresentationFormat>Widescreen</PresentationFormat>
  <Paragraphs>283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Aptos</vt:lpstr>
      <vt:lpstr>Arial</vt:lpstr>
      <vt:lpstr>Century Gothic</vt:lpstr>
      <vt:lpstr>Wingdings 3</vt:lpstr>
      <vt:lpstr>Ion</vt:lpstr>
      <vt:lpstr>Cybercrime and Legal Aspects</vt:lpstr>
      <vt:lpstr>Learning Objectives</vt:lpstr>
      <vt:lpstr>Learning Objectives</vt:lpstr>
      <vt:lpstr>Introduction to Cybercrime</vt:lpstr>
      <vt:lpstr>Key Characteristics of Cybercrime</vt:lpstr>
      <vt:lpstr>Types of Cybercrime</vt:lpstr>
      <vt:lpstr>Hacking</vt:lpstr>
      <vt:lpstr>Phishing</vt:lpstr>
      <vt:lpstr>Malware</vt:lpstr>
      <vt:lpstr>Identity Theft</vt:lpstr>
      <vt:lpstr>Cyber Terrorism</vt:lpstr>
      <vt:lpstr>Cybercrime Lifecycle</vt:lpstr>
      <vt:lpstr>Actors in Cybercrime</vt:lpstr>
      <vt:lpstr>Impact of Cybercrime</vt:lpstr>
      <vt:lpstr>Introduction to Laws</vt:lpstr>
      <vt:lpstr>Global Cyber Laws</vt:lpstr>
      <vt:lpstr>Global Cyber Laws</vt:lpstr>
      <vt:lpstr>Global Cyber Laws</vt:lpstr>
      <vt:lpstr>Global Cyber Laws</vt:lpstr>
      <vt:lpstr>Pakistan Cyber Law (PECA 2016)</vt:lpstr>
      <vt:lpstr>Key Provisions of PECA</vt:lpstr>
      <vt:lpstr>Digital Evidence</vt:lpstr>
      <vt:lpstr>🔐 Key Offences under PECA (with Punishment &amp; Court)</vt:lpstr>
      <vt:lpstr>🔐 Key Offences under PECA (with Punishment &amp; Court)</vt:lpstr>
      <vt:lpstr>🔐 Key Offences under PECA (with Punishment &amp; Court)</vt:lpstr>
      <vt:lpstr>🔐 Key Offences under PECA (with Punishment &amp; Court)</vt:lpstr>
      <vt:lpstr>🔐 Key Offences under PECA (with Punishment &amp; Court)</vt:lpstr>
      <vt:lpstr>🔐 Key Offences under PECA (with Punishment &amp; Court)</vt:lpstr>
      <vt:lpstr>🔐 Key Offences under PECA (with Punishment &amp; Court)</vt:lpstr>
      <vt:lpstr>Digital Forensics Process</vt:lpstr>
      <vt:lpstr>Digital Forensics Process</vt:lpstr>
      <vt:lpstr>Compliance and Standards</vt:lpstr>
      <vt:lpstr>Privacy Laws</vt:lpstr>
      <vt:lpstr>Ethical Considerations</vt:lpstr>
      <vt:lpstr>Ethical Frameworks</vt:lpstr>
      <vt:lpstr>Ethical Hacking</vt:lpstr>
      <vt:lpstr>Ethical Hacking Debate</vt:lpstr>
      <vt:lpstr>Case Studies 1</vt:lpstr>
      <vt:lpstr>Case Studies 2</vt:lpstr>
      <vt:lpstr>Challenges in Cyber Law Enforcement</vt:lpstr>
      <vt:lpstr>Future Trends</vt:lpstr>
      <vt:lpstr>Best Practices</vt:lpstr>
      <vt:lpstr>Discussion Questions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Zahid  Mehmood</dc:creator>
  <cp:lastModifiedBy>Zahid  Mehmood</cp:lastModifiedBy>
  <cp:revision>1</cp:revision>
  <dcterms:created xsi:type="dcterms:W3CDTF">2026-03-26T18:47:50Z</dcterms:created>
  <dcterms:modified xsi:type="dcterms:W3CDTF">2026-03-27T06:15:54Z</dcterms:modified>
</cp:coreProperties>
</file>